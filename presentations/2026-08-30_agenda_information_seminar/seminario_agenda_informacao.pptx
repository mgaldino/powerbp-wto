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e30327ccc64de2" /><Relationship Type="http://schemas.openxmlformats.org/officeDocument/2006/relationships/extended-properties" Target="/docProps/app.xml" Id="Rdcb4febd82204360" /><Relationship Type="http://schemas.openxmlformats.org/officeDocument/2006/relationships/officeDocument" Target="/ppt/presentation.xml" Id="R831bd2b19fca4b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75d42f2bd34976"/>
  </p:sldMasterIdLst>
  <p:notesMasterIdLst>
    <p:notesMasterId xmlns:r="http://schemas.openxmlformats.org/officeDocument/2006/relationships" r:id="R7ae8559ce3cd4da7"/>
  </p:notesMasterIdLst>
  <p:sldIdLst>
    <p:sldId xmlns:r="http://schemas.openxmlformats.org/officeDocument/2006/relationships" id="256" r:id="Ra411796eedf14afb"/>
    <p:sldId xmlns:r="http://schemas.openxmlformats.org/officeDocument/2006/relationships" id="257" r:id="R87bdf842f8f549ae"/>
    <p:sldId xmlns:r="http://schemas.openxmlformats.org/officeDocument/2006/relationships" id="258" r:id="R685d69a3b83c47d1"/>
    <p:sldId xmlns:r="http://schemas.openxmlformats.org/officeDocument/2006/relationships" id="259" r:id="Rddb13e79899645c0"/>
    <p:sldId xmlns:r="http://schemas.openxmlformats.org/officeDocument/2006/relationships" id="260" r:id="Re8b71e5a0547427b"/>
    <p:sldId xmlns:r="http://schemas.openxmlformats.org/officeDocument/2006/relationships" id="261" r:id="Rb671d945fb3640d6"/>
    <p:sldId xmlns:r="http://schemas.openxmlformats.org/officeDocument/2006/relationships" id="262" r:id="R60bb26e373374873"/>
    <p:sldId xmlns:r="http://schemas.openxmlformats.org/officeDocument/2006/relationships" id="263" r:id="Rd542c506b1064190"/>
    <p:sldId xmlns:r="http://schemas.openxmlformats.org/officeDocument/2006/relationships" id="264" r:id="Rfc9de61e1a7d4aff"/>
    <p:sldId xmlns:r="http://schemas.openxmlformats.org/officeDocument/2006/relationships" id="265" r:id="R4c559b2d975a440d"/>
    <p:sldId xmlns:r="http://schemas.openxmlformats.org/officeDocument/2006/relationships" id="266" r:id="R6dc5cfa46124480b"/>
    <p:sldId xmlns:r="http://schemas.openxmlformats.org/officeDocument/2006/relationships" id="267" r:id="Rabcd1ec1a1b5486f"/>
    <p:sldId xmlns:r="http://schemas.openxmlformats.org/officeDocument/2006/relationships" id="268" r:id="R3d55b35c00e44a2e"/>
    <p:sldId xmlns:r="http://schemas.openxmlformats.org/officeDocument/2006/relationships" id="269" r:id="Rb36e04d6f2f74374"/>
    <p:sldId xmlns:r="http://schemas.openxmlformats.org/officeDocument/2006/relationships" id="270" r:id="Rc8b1155697ba4813"/>
    <p:sldId xmlns:r="http://schemas.openxmlformats.org/officeDocument/2006/relationships" id="271" r:id="Rc2ac433dc76e4b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ff84f17c9b4f62" /><Relationship Type="http://schemas.openxmlformats.org/officeDocument/2006/relationships/slideMaster" Target="/ppt/slideMasters/slideMaster1.xml" Id="Rf975d42f2bd34976" /><Relationship Type="http://schemas.openxmlformats.org/officeDocument/2006/relationships/notesMaster" Target="/ppt/notesMasters/notesMaster1.xml" Id="R7ae8559ce3cd4da7" /><Relationship Type="http://schemas.openxmlformats.org/officeDocument/2006/relationships/presProps" Target="/ppt/presProps.xml" Id="R8e3a17e8ff0d4ac2" /><Relationship Type="http://schemas.openxmlformats.org/officeDocument/2006/relationships/tableStyles" Target="/ppt/tableStyles.xml" Id="R330e64154f0944ad" /><Relationship Type="http://schemas.openxmlformats.org/officeDocument/2006/relationships/slide" Target="/ppt/slides/slide1.xml" Id="Ra411796eedf14afb" /><Relationship Type="http://schemas.openxmlformats.org/officeDocument/2006/relationships/slide" Target="/ppt/slides/slide2.xml" Id="R87bdf842f8f549ae" /><Relationship Type="http://schemas.openxmlformats.org/officeDocument/2006/relationships/slide" Target="/ppt/slides/slide3.xml" Id="R685d69a3b83c47d1" /><Relationship Type="http://schemas.openxmlformats.org/officeDocument/2006/relationships/slide" Target="/ppt/slides/slide4.xml" Id="Rddb13e79899645c0" /><Relationship Type="http://schemas.openxmlformats.org/officeDocument/2006/relationships/slide" Target="/ppt/slides/slide5.xml" Id="Re8b71e5a0547427b" /><Relationship Type="http://schemas.openxmlformats.org/officeDocument/2006/relationships/slide" Target="/ppt/slides/slide6.xml" Id="Rb671d945fb3640d6" /><Relationship Type="http://schemas.openxmlformats.org/officeDocument/2006/relationships/slide" Target="/ppt/slides/slide7.xml" Id="R60bb26e373374873" /><Relationship Type="http://schemas.openxmlformats.org/officeDocument/2006/relationships/slide" Target="/ppt/slides/slide8.xml" Id="Rd542c506b1064190" /><Relationship Type="http://schemas.openxmlformats.org/officeDocument/2006/relationships/slide" Target="/ppt/slides/slide9.xml" Id="Rfc9de61e1a7d4aff" /><Relationship Type="http://schemas.openxmlformats.org/officeDocument/2006/relationships/slide" Target="/ppt/slides/slide10.xml" Id="R4c559b2d975a440d" /><Relationship Type="http://schemas.openxmlformats.org/officeDocument/2006/relationships/slide" Target="/ppt/slides/slide11.xml" Id="R6dc5cfa46124480b" /><Relationship Type="http://schemas.openxmlformats.org/officeDocument/2006/relationships/slide" Target="/ppt/slides/slide12.xml" Id="Rabcd1ec1a1b5486f" /><Relationship Type="http://schemas.openxmlformats.org/officeDocument/2006/relationships/slide" Target="/ppt/slides/slide13.xml" Id="R3d55b35c00e44a2e" /><Relationship Type="http://schemas.openxmlformats.org/officeDocument/2006/relationships/slide" Target="/ppt/slides/slide14.xml" Id="Rb36e04d6f2f74374" /><Relationship Type="http://schemas.openxmlformats.org/officeDocument/2006/relationships/slide" Target="/ppt/slides/slide15.xml" Id="Rc8b1155697ba4813" /><Relationship Type="http://schemas.openxmlformats.org/officeDocument/2006/relationships/slide" Target="/ppt/slides/slide16.xml" Id="Rc2ac433dc76e4b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dbdfb25ff64c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6a6a136b2b4184" /><Relationship Type="http://schemas.openxmlformats.org/officeDocument/2006/relationships/notesMaster" Target="/ppt/notesMasters/notesMaster1.xml" Id="Rab55d24193fc47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e884d0cb73496a" /><Relationship Type="http://schemas.openxmlformats.org/officeDocument/2006/relationships/notesMaster" Target="/ppt/notesMasters/notesMaster1.xml" Id="R20676c7d553648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fdddb44ad248ce" /><Relationship Type="http://schemas.openxmlformats.org/officeDocument/2006/relationships/notesMaster" Target="/ppt/notesMasters/notesMaster1.xml" Id="R3930158ed17943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d3172d0ece4d67" /><Relationship Type="http://schemas.openxmlformats.org/officeDocument/2006/relationships/notesMaster" Target="/ppt/notesMasters/notesMaster1.xml" Id="Reb99ea8b99bb43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0ec4132f4f472a" /><Relationship Type="http://schemas.openxmlformats.org/officeDocument/2006/relationships/notesMaster" Target="/ppt/notesMasters/notesMaster1.xml" Id="R94d6c839bef043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f4fd0ce4b34f1a" /><Relationship Type="http://schemas.openxmlformats.org/officeDocument/2006/relationships/notesMaster" Target="/ppt/notesMasters/notesMaster1.xml" Id="R831d1234898141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432e24641e4932" /><Relationship Type="http://schemas.openxmlformats.org/officeDocument/2006/relationships/notesMaster" Target="/ppt/notesMasters/notesMaster1.xml" Id="R083a7a3d802344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f04e32a0764fdc" /><Relationship Type="http://schemas.openxmlformats.org/officeDocument/2006/relationships/notesMaster" Target="/ppt/notesMasters/notesMaster1.xml" Id="Re7bc71ca745b4a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f85be2e6434d58" /><Relationship Type="http://schemas.openxmlformats.org/officeDocument/2006/relationships/notesMaster" Target="/ppt/notesMasters/notesMaster1.xml" Id="Rfa298a2a998a44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0ac9c6b5564e7a" /><Relationship Type="http://schemas.openxmlformats.org/officeDocument/2006/relationships/notesMaster" Target="/ppt/notesMasters/notesMaster1.xml" Id="R9d597a9307d340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395a6610e4408f" /><Relationship Type="http://schemas.openxmlformats.org/officeDocument/2006/relationships/notesMaster" Target="/ppt/notesMasters/notesMaster1.xml" Id="R2c780475b9e94e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c84b5dc5994203" /><Relationship Type="http://schemas.openxmlformats.org/officeDocument/2006/relationships/notesMaster" Target="/ppt/notesMasters/notesMaster1.xml" Id="R508ba1e27f8049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c0aed9516c40e6" /><Relationship Type="http://schemas.openxmlformats.org/officeDocument/2006/relationships/notesMaster" Target="/ppt/notesMasters/notesMaster1.xml" Id="R3f3a50229bb045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8ef5934afe438a" /><Relationship Type="http://schemas.openxmlformats.org/officeDocument/2006/relationships/notesMaster" Target="/ppt/notesMasters/notesMaster1.xml" Id="R5fc2e5ce5cf040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36690caadb42e3" /><Relationship Type="http://schemas.openxmlformats.org/officeDocument/2006/relationships/notesMaster" Target="/ppt/notesMasters/notesMaster1.xml" Id="R7b2a8b863d8043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34d20ca3b94a8b" /><Relationship Type="http://schemas.openxmlformats.org/officeDocument/2006/relationships/notesMaster" Target="/ppt/notesMasters/notesMaster1.xml" Id="R765cf78ff2ce41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f5c889c7e4c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5daf201fac4b75" /><Relationship Type="http://schemas.openxmlformats.org/officeDocument/2006/relationships/slideLayout" Target="/ppt/slideLayouts/slideLayout1.xml" Id="R84a591359d574e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a591359d574e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5832ab0244508" /><Relationship Type="http://schemas.openxmlformats.org/officeDocument/2006/relationships/notesSlide" Target="/ppt/notesSlides/notesSlide1.xml" Id="R2c0f672f1c284d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dc9c1dbb749c9" /><Relationship Type="http://schemas.openxmlformats.org/officeDocument/2006/relationships/notesSlide" Target="/ppt/notesSlides/notesSlide2.xml" Id="R1ebfe3fb33d84b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8696f46d74ac4" /><Relationship Type="http://schemas.openxmlformats.org/officeDocument/2006/relationships/notesSlide" Target="/ppt/notesSlides/notesSlide3.xml" Id="R3566df6353ec49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d20217b604c22" /><Relationship Type="http://schemas.openxmlformats.org/officeDocument/2006/relationships/notesSlide" Target="/ppt/notesSlides/notesSlide4.xml" Id="R260e63feaf8b48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1d2805bc9498b" /><Relationship Type="http://schemas.openxmlformats.org/officeDocument/2006/relationships/notesSlide" Target="/ppt/notesSlides/notesSlide5.xml" Id="R2f50c529d99a4e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490ad3d644914" /><Relationship Type="http://schemas.openxmlformats.org/officeDocument/2006/relationships/notesSlide" Target="/ppt/notesSlides/notesSlide6.xml" Id="Rf831339bdc5043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2858ae2a94179" /><Relationship Type="http://schemas.openxmlformats.org/officeDocument/2006/relationships/image" Target="/ppt/media/image.png" Id="Rdb2f789b7cb74561" /><Relationship Type="http://schemas.openxmlformats.org/officeDocument/2006/relationships/notesSlide" Target="/ppt/notesSlides/notesSlide7.xml" Id="R929cbcc551454a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2b3be6b2a4202" /><Relationship Type="http://schemas.openxmlformats.org/officeDocument/2006/relationships/image" Target="/ppt/media/image2.png" Id="Ra922ad9935b4495e" /><Relationship Type="http://schemas.openxmlformats.org/officeDocument/2006/relationships/notesSlide" Target="/ppt/notesSlides/notesSlide8.xml" Id="R9596c82dc3aa4c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68eac4d044976" /><Relationship Type="http://schemas.openxmlformats.org/officeDocument/2006/relationships/notesSlide" Target="/ppt/notesSlides/notesSlide9.xml" Id="R586da8cec3a746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672df39ea420f" /><Relationship Type="http://schemas.openxmlformats.org/officeDocument/2006/relationships/image" Target="/ppt/media/image3.png" Id="R9435592325e64286" /><Relationship Type="http://schemas.openxmlformats.org/officeDocument/2006/relationships/notesSlide" Target="/ppt/notesSlides/notesSlide10.xml" Id="Rf5386faa43a94f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bb82be1bf45a2" /><Relationship Type="http://schemas.openxmlformats.org/officeDocument/2006/relationships/notesSlide" Target="/ppt/notesSlides/notesSlide11.xml" Id="R83173774ee414b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524b15c724a64" /><Relationship Type="http://schemas.openxmlformats.org/officeDocument/2006/relationships/image" Target="/ppt/media/image4.png" Id="Rb9ff9f8c7a824b8a" /><Relationship Type="http://schemas.openxmlformats.org/officeDocument/2006/relationships/notesSlide" Target="/ppt/notesSlides/notesSlide12.xml" Id="R3a92e690452a4d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33ac6a6d149d3" /><Relationship Type="http://schemas.openxmlformats.org/officeDocument/2006/relationships/notesSlide" Target="/ppt/notesSlides/notesSlide13.xml" Id="R7a8ff1fcdb12419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c93046ee246e3" /><Relationship Type="http://schemas.openxmlformats.org/officeDocument/2006/relationships/notesSlide" Target="/ppt/notesSlides/notesSlide14.xml" Id="R73adce5fd11c49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ecc24b4a84b4c" /><Relationship Type="http://schemas.openxmlformats.org/officeDocument/2006/relationships/notesSlide" Target="/ppt/notesSlides/notesSlide15.xml" Id="Rdf08023af11b47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8837323764f20" /><Relationship Type="http://schemas.openxmlformats.org/officeDocument/2006/relationships/notesSlide" Target="/ppt/notesSlides/notesSlide16.xml" Id="Rffb9547f53fb48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FD540-A7E9-4626-97BB-8187A09E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9B5AC-C1B8-46A0-B866-77DCC0CA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257300"/>
            <a:ext cx="695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43B5D"/>
                </a:solidFill>
              </a:defRPr>
            </a:pPr>
            <a:r>
              <a:rPr sz="3750" b="1">
                <a:solidFill>
                  <a:srgbClr val="143B5D"/>
                </a:solidFill>
              </a:rPr>
              <a:t>QUANDO O CONSENSO</a:t>
            </a:r>
          </a:p>
          <a:p xmlns:a="http://schemas.openxmlformats.org/drawingml/2006/main">
            <a:pPr algn="l">
              <a:defRPr sz="3750" b="1">
                <a:solidFill>
                  <a:srgbClr val="143B5D"/>
                </a:solidFill>
              </a:defRPr>
            </a:pPr>
            <a:r>
              <a:rPr sz="3750" b="1">
                <a:solidFill>
                  <a:srgbClr val="143B5D"/>
                </a:solidFill>
              </a:rPr>
              <a:t>PODE DAR PODER AO HEGEMON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62FB8-3401-4768-8440-AFDC33B1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676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6727E"/>
                </a:solidFill>
              </a:defRPr>
            </a:pPr>
            <a:r>
              <a:rPr sz="1875" b="0">
                <a:solidFill>
                  <a:srgbClr val="66727E"/>
                </a:solidFill>
              </a:rPr>
              <a:t>Agenda, indispensabilidade e renda informacional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998A8-883A-4F1D-BF2D-004D748C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2857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4605F-3E43-4C91-AB8A-7A04AAD4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6746D-B844-40A7-8571-C5E0B1EF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552575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 pergunta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D4E31-926F-4F72-9621-94B08DF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00250"/>
            <a:ext cx="24288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Por que um hegemon como os Estados Unidos poderia preferir consenso a maioria?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A9E29-9366-44DF-A59E-190976C0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864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</a:defRPr>
            </a:pPr>
            <a:r>
              <a:rPr sz="1200" b="0">
                <a:solidFill>
                  <a:srgbClr val="66727E"/>
                </a:solidFill>
              </a:rPr>
              <a:t>Manoel Galdino  •  Seminário de Economia Política Internacional</a:t>
            </a:r>
          </a:p>
        </p:txBody>
      </p:sp>
    </p:spTree>
    <p:extLst>
      <p:ext uri="{BB962C8B-B14F-4D97-AF65-F5344CB8AC3E}">
        <p14:creationId xmlns:p14="http://schemas.microsoft.com/office/powerpoint/2010/main" val="3934631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DD420-7531-4E79-B8DB-C8441607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O paradoxo da OMC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FF68F-C558-4595-ADDF-247CF566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C3C11-8BB1-4C0F-8EC5-074AC030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292D2-DB1B-427C-9DC4-8A9C1B6C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9D715-BC45-4844-BA6E-DF2D64D4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5785A-29F9-4507-BDFD-456D6025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Igualdade formal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208B8-6090-4A9F-A710-A5924058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24375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Primeiro, consenso.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Se não houver consenso, votação.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Cada membro tem um voto.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Mas os Estados Unidos continuam capazes de moldar resultados.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190B3-E79E-410E-A612-888F5E80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5381625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0EF6F-BF82-4B59-A89B-236BA5F4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762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17A63-CC76-4D06-B8F1-21C59B65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52575"/>
            <a:ext cx="498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 pergunta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24853-3D6B-40DB-8DED-CF83D7AB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000250"/>
            <a:ext cx="49530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Por que um hegemon aceitaria — e às vezes preferiria — uma regra que dá veto formal a todos?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6BE5D-653B-43AC-AE12-35333CC0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Acordo de Marrakesh, Art. IX. Aplicação aos EUA: interpretação teórica, não teste empírico.</a:t>
            </a:r>
          </a:p>
        </p:txBody>
      </p:sp>
    </p:spTree>
    <p:extLst>
      <p:ext uri="{BB962C8B-B14F-4D97-AF65-F5344CB8AC3E}">
        <p14:creationId xmlns:p14="http://schemas.microsoft.com/office/powerpoint/2010/main" val="2848441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B5AF1-4773-4EBF-98F8-363D39F8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 resposta convencional: pesos invisíveis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4C041-5EEE-4D80-A211-C1EC7A96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E6C33-AA2F-4490-8451-C1621B7C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44221-D941-41B8-B885-C5FD5CFD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8E174-48DA-4E9A-8083-9EA0D106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25994-18C4-4C7A-A6FD-84B81CFD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Agenda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A525F-CCF0-4DC8-9007-177823B6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Controle do texto, do timing e do conjunto de alternativas.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FA66E-0586-43C5-AF0B-02BC47A6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DABE9-711E-4A99-A2D8-78DBBA0D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956B2-CE10-4762-A082-2181F17C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Poder material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E3326-84A0-4F15-B1F4-46246F37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Ameaça de saída, coerção e fechamento de opções.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70614-E663-42B5-A2C7-2FD188A7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C37900-184B-4FD6-8C1E-FA9FFB66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39C56-9EC7-4FB8-91EF-B980B193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Consenso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01182-4760-4D24-BA64-161D7E1E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Legitima formalmente um acordo já moldado na negociação informal.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CD1FE-32E3-4D74-8980-918A71C4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985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43B5D"/>
                </a:solidFill>
              </a:defRPr>
            </a:pPr>
            <a:r>
              <a:rPr sz="2025" b="1">
                <a:solidFill>
                  <a:srgbClr val="143B5D"/>
                </a:solidFill>
              </a:rPr>
              <a:t>Nossa pergunta adicional: o que a regra faz com a informação privada do hegemon?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2714A-B7D3-45E1-8088-A0300F8F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Steinberg (2002), “In the Shadow of Law or Power?”.</a:t>
            </a:r>
          </a:p>
        </p:txBody>
      </p:sp>
    </p:spTree>
    <p:extLst>
      <p:ext uri="{BB962C8B-B14F-4D97-AF65-F5344CB8AC3E}">
        <p14:creationId xmlns:p14="http://schemas.microsoft.com/office/powerpoint/2010/main" val="968644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80C8B-83C5-4CF9-B671-28893057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O que a teoria próxima já ensina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04F0D-82B5-4D98-A4A8-28F47C69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7D7D0-8F92-400B-A089-43139298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B46FC-F6E5-492C-804A-590A5EB6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509587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5FC4D-37F9-493D-A83C-8E0BD90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0D418-484B-4E35-8413-BE280FC8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Piazolo–Vanberg (GEB)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58A03-9D02-4564-A6B7-470CC23B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52625"/>
            <a:ext cx="46672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Proponente fixo.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Dois respondentes informados.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Rejeição sinaliza força sob unanimidade.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Respondentes mais caros; atraso e desacordo.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A35A7-05C0-46A3-9595-1EE05961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33500"/>
            <a:ext cx="509587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C3CF7-CAD5-42C9-B1E1-58BA34EF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33500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706EF-FB1A-4513-AEDA-98AFBEE1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049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Glynia–Thum–Xefteris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A7EE7-127F-43D6-AECF-98475C9A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952625"/>
            <a:ext cx="46672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Respondentes conhecem seus custos.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Proponente conhece a distribuição.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Escolha entre proposta segura e aposta.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Rankings não monotônicos.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39EEC-C515-46D6-AE5F-31FAAD05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76F51"/>
                </a:solidFill>
              </a:defRPr>
            </a:pPr>
            <a:r>
              <a:rPr sz="1725" b="1">
                <a:solidFill>
                  <a:srgbClr val="E76F51"/>
                </a:solidFill>
              </a:rPr>
              <a:t>O GEB já mostra sinalização e exclusão; perguntamos quem captura o prêmio sem agenda hegemônica.</a:t>
            </a:r>
          </a:p>
        </p:txBody>
      </p:sp>
    </p:spTree>
    <p:extLst>
      <p:ext uri="{BB962C8B-B14F-4D97-AF65-F5344CB8AC3E}">
        <p14:creationId xmlns:p14="http://schemas.microsoft.com/office/powerpoint/2010/main" val="6736550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33CEC-ECFD-4E30-A599-5A1B3ABA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 pergunta que resta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9560F-6D77-4368-9847-E8A1FD0C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21FA7-A625-44D5-87D0-230D903C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6A7B4-2A48-4381-9C87-A8C87436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24000"/>
            <a:ext cx="971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3B5D"/>
                </a:solidFill>
              </a:defRPr>
            </a:pPr>
            <a:r>
              <a:rPr sz="2850" b="1">
                <a:solidFill>
                  <a:srgbClr val="143B5D"/>
                </a:solidFill>
              </a:rPr>
              <a:t>Quando a informação gera poder mesmo sem agenda hegemônica ou votos extras?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30D53-A2EE-4280-91B8-5A301617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38500"/>
            <a:ext cx="561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C5C04-A738-4848-B384-F3B099DE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3850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796DA-6C13-42B8-8637-63731C06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409950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Benchmark deliberadamente exigente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6F758-98CB-4807-A01A-715D884C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857625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πH = 0: apenas Estados fracos propõem nos dois períodos.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3E659-875D-4946-A50D-63575ACD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12B"/>
                </a:solidFill>
              </a:defRPr>
            </a:pPr>
            <a:r>
              <a:rPr sz="1800" b="0">
                <a:solidFill>
                  <a:srgbClr val="17212B"/>
                </a:solidFill>
              </a:rPr>
              <a:t>Se H ganhar sob unanimidade, o ganho não pode ser atribuído à iniciativa formal.</a:t>
            </a:r>
          </a:p>
        </p:txBody>
      </p:sp>
    </p:spTree>
    <p:extLst>
      <p:ext uri="{BB962C8B-B14F-4D97-AF65-F5344CB8AC3E}">
        <p14:creationId xmlns:p14="http://schemas.microsoft.com/office/powerpoint/2010/main" val="17438663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29693-6F25-409E-BCD6-C74F79AD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Arquitetura mínima do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348104-E9DB-40CF-B00B-BAE96082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8174D-28AC-494C-B4F4-A30E0C34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6A8B2-278D-410B-83FF-C3CF841F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02DAA-9846-4D3B-B055-724077E2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CC907-AA1E-46C5-AB4D-23EE259E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Atores e informação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824F2-A414-48B4-98C4-A11AC7CC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24375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Um hegemon H e m ≥ 3 Estados fracos.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H conhece sua exigência mínima: o₁ &gt; o₀.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Os fracos conhecem apenas ν = Pr(θ = 1).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A010A-82DE-4E9B-A076-DAF74E70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53816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907E1-47D2-4252-A63F-603AF0A8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62D70-83FF-4FE1-A355-141DD387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52575"/>
            <a:ext cx="498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Instituições e tempo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A68E5-6615-4EE2-95D8-399F4C37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000250"/>
            <a:ext cx="49530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Dois períodos; desconto β.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 pacote y concede excedente a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Maioria pode excluir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Unanimidade exige seu sim.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41231-8DCD-4859-B768-2EB375C2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3B5D"/>
                </a:solidFill>
              </a:defRPr>
            </a:pPr>
            <a:r>
              <a:rPr sz="1950" b="1">
                <a:solidFill>
                  <a:srgbClr val="143B5D"/>
                </a:solidFill>
              </a:rPr>
              <a:t>A regra muda se uma coalizão pode contornar o voto informado.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27999-BF47-4028-AD16-2EB23F00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R1: fraco propõe → votos → acordo/continuação β → R2 terminal: fraco propõe → acordo/desacordo.</a:t>
            </a:r>
          </a:p>
        </p:txBody>
      </p:sp>
    </p:spTree>
    <p:extLst>
      <p:ext uri="{BB962C8B-B14F-4D97-AF65-F5344CB8AC3E}">
        <p14:creationId xmlns:p14="http://schemas.microsoft.com/office/powerpoint/2010/main" val="706772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f789b7cb7456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55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ad9935b4495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87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8C02FB-4501-402C-8861-B6F8EAE3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Com informação privada, as regras ativam jogos distintos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857F1-8810-4858-83BC-348D15A7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97AD4-AAB1-43E2-8333-73DEF8FF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53CBB-3012-4EF9-B6FF-8A6E8908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50006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C32C1-5859-45C8-B89F-8CE0DFA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DC9D8-A29B-4F95-9D10-D4E4E0C0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600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Maioria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2FA52-5F57-4771-A98B-EA4D7DFE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720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Pode contornar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Screening, pooling e exclusão.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A exigência de H pode ser evitada por uma coalizão alternativa.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C940B4-34E5-4808-B0D7-68AA2F6C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1911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E0AAB-22F7-46FC-8612-CA326C0E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0B3694-D9C1-4C31-BD19-20B0D8E8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552575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Unanimidade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401BF-068B-4473-B620-DD795488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000250"/>
            <a:ext cx="4762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Todo acordo compra o sim de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baixa: oferta ao tipo baixo.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intermediária: não há PBE puro.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alta: pooling no limiar alto.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9ED62-19DB-4D74-A338-43EF1150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60070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3B5D"/>
                </a:solidFill>
              </a:defRPr>
            </a:pPr>
            <a:r>
              <a:rPr sz="1875" b="1">
                <a:solidFill>
                  <a:srgbClr val="143B5D"/>
                </a:solidFill>
              </a:rPr>
              <a:t>No pooling, a baixa exigência é paga como se pudesse ser alta.</a:t>
            </a:r>
          </a:p>
        </p:txBody>
      </p:sp>
    </p:spTree>
    <p:extLst>
      <p:ext uri="{BB962C8B-B14F-4D97-AF65-F5344CB8AC3E}">
        <p14:creationId xmlns:p14="http://schemas.microsoft.com/office/powerpoint/2010/main" val="17578715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5592325e642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12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D2B32F-9ADB-4DF4-A854-54ABE781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Como identificar a fonte do ganho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14C9F-7673-41AE-8AD9-B4657C3B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E1B008-758C-42AF-9EF9-7448C053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8DF0AA-8E0D-44D5-9976-A316713A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10477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E5222-0AD1-408F-AEB3-35FF8DB6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FA216-886F-418A-9C4C-7EF9FE9B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5257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Fixe um par de equilíbrios comparáveis (sM, sU)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F853C-CA3A-42B6-9A2B-F0571256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00250"/>
            <a:ext cx="10048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RIgθ(sg) = Vg(priv, θ; sg) − hg(oθ)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27C81-C6C1-405B-A679-F43386CD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10477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884F9-CBA0-4297-93AA-09764ACC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F0CA5-1129-44B5-A753-322D5D2E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Mudança institucional do prêmio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EA95F-8897-435C-B595-8DAD8369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0425"/>
            <a:ext cx="10048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ΔRIθ(sU,sM) = RIUθ(sU) − RIMθ(sM)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9E7D59-4898-4C66-85AA-1D543318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81475"/>
            <a:ext cx="1047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FCF7C7-FEF2-441F-8AB3-8A3740DB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81475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C5E73-1B26-4F28-BDD2-67EB9AA0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Teste da reversão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300A0-EA9F-4CC6-8970-4009CE4A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1004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δθ(sU,sM) = −G(oθ) + ΔRIθ(sU,sM)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F643D-7A4C-4686-8460-F6C1CF42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43575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727E"/>
                </a:solidFill>
              </a:defRPr>
            </a:pPr>
            <a:r>
              <a:rPr sz="1500" b="0">
                <a:solidFill>
                  <a:srgbClr val="66727E"/>
                </a:solidFill>
              </a:rPr>
              <a:t>Se G(o₀) &gt; 0 e δ₀ &gt; 0, então ΔRI₀ &gt; G(o₀). Resultado existencial equilíbrio a equilíbrio.</a:t>
            </a:r>
          </a:p>
        </p:txBody>
      </p:sp>
    </p:spTree>
    <p:extLst>
      <p:ext uri="{BB962C8B-B14F-4D97-AF65-F5344CB8AC3E}">
        <p14:creationId xmlns:p14="http://schemas.microsoft.com/office/powerpoint/2010/main" val="7883721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f9f8c7a824b8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3763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96B0C-5ACC-4285-9509-A7CF354E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 contribuição diante dos dois papers próximos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8B384-388C-4204-A203-4828AFA9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DB216-D69D-475B-9DDA-0323C33C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17F84-7455-4477-B6EB-AF60E034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3476625" cy="4238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F96A67-54E9-4DC6-95D3-B6B4A45F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76200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49A3D-BB45-4EF2-9D95-59EEBC7F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4573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GEB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7ABF1-13AD-41BB-891C-0D3E4C0C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05000"/>
            <a:ext cx="3048000" cy="3457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Informados: dois respondentes simétricos.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Agenda: proponente fixo.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Regra: muda sinal da rejeição e preço dos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Objeto: custo, atraso, desacordo.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9765E-49AD-48BD-9BF8-A0CF84BF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85875"/>
            <a:ext cx="3476625" cy="4238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7755D-B89B-48A0-82F7-C8E10D5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85875"/>
            <a:ext cx="76200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9F2E7-2DB2-479C-A94D-EC1B7A24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4573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Public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F4A18-A8F3-42BA-8025-C29132C3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05000"/>
            <a:ext cx="3048000" cy="3457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Informação: respondentes conhecem seus custos; proponente conhece a distribuição.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Agenda: agenda setter fixo.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Regra: muda seguro versus aposta.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Objeto: aprovação e transferências.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07130-207D-4BF8-AA67-02278AB1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285875"/>
            <a:ext cx="3476625" cy="4238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0E190-0DFC-40AB-9311-8122D5D7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285875"/>
            <a:ext cx="76200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506AE-A53C-4A15-89EF-3218933C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57325"/>
            <a:ext cx="3076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Este modelo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3461A2-0130-4A1C-883C-202E3B87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05000"/>
            <a:ext cx="3048000" cy="3457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Informado: um único hegemon.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Agenda: retirada e devolvida.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Regra: torna sua informação evitável ou incontornável.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Objeto: incidência, reversão e três poderes.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E34548-7831-4D42-8634-74F8F2F8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9740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3B5D"/>
                </a:solidFill>
              </a:defRPr>
            </a:pPr>
            <a:r>
              <a:rPr sz="1650" b="1">
                <a:solidFill>
                  <a:srgbClr val="143B5D"/>
                </a:solidFill>
              </a:rPr>
              <a:t>Não descobrimos o sinal da rejeição: isolamos quem captura o prêmio sem agenda hegemônica.</a:t>
            </a:r>
          </a:p>
        </p:txBody>
      </p:sp>
    </p:spTree>
    <p:extLst>
      <p:ext uri="{BB962C8B-B14F-4D97-AF65-F5344CB8AC3E}">
        <p14:creationId xmlns:p14="http://schemas.microsoft.com/office/powerpoint/2010/main" val="5638380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0FE7D9-2F1D-4DF4-9188-61DA1FD5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Epílogo: devolvendo a agenda ao hegemon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9591B-2C84-4ADD-9586-F4ACD905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7DEB9-9732-4676-A280-897CF4D3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1A14C-039B-419E-B58B-DC5C72B8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382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3B5D"/>
                </a:solidFill>
              </a:defRPr>
            </a:pPr>
            <a:r>
              <a:rPr sz="2325" b="1">
                <a:solidFill>
                  <a:srgbClr val="143B5D"/>
                </a:solidFill>
              </a:rPr>
              <a:t>Agenda acrescenta duas coisas diferentes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74655-0777-43BD-B95A-057EEAEB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476250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892B6-67DB-430B-8E05-EEE733B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762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C79F8-457B-4AFC-BF39-372D7CDC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552700"/>
            <a:ext cx="436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Efeito direto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3AA46-0339-41BD-B7C8-6568F752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000375"/>
            <a:ext cx="4333875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Sob unanimidade, DU = 1 − β &gt; 0. Dar a proposta a H eleva diretamente seu payoff.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00E3C-2EEB-480C-89AE-A7BB10DF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81250"/>
            <a:ext cx="476250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39933-25D1-442F-AED2-2FCD7712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81250"/>
            <a:ext cx="762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99E11-5234-41D0-B9BB-C69F17D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552700"/>
            <a:ext cx="436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Interação informacional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11606-17CD-478E-ACA7-EA6E29D0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000375"/>
            <a:ext cx="4333875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Em células comparáveis de alta exigência, IU¹ ≤ 0. Agenda pode comprimir o prêmio informacional.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5C4F7-810B-4141-85CC-9C1EED6A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81625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A9D8F"/>
                </a:solidFill>
              </a:defRPr>
            </a:pPr>
            <a:r>
              <a:rPr sz="1800" b="1">
                <a:solidFill>
                  <a:srgbClr val="2A9D8F"/>
                </a:solidFill>
              </a:rPr>
              <a:t>Agenda aumenta o payoff, mas pode substituir parte do poder de informação.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46E7E1-7FD7-40C8-9584-EA8641FB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A_T: resultado revisado, ainda não congelado. Nos pares provados sob unanimidade, o efeito total é não negativo.</a:t>
            </a:r>
          </a:p>
        </p:txBody>
      </p:sp>
    </p:spTree>
    <p:extLst>
      <p:ext uri="{BB962C8B-B14F-4D97-AF65-F5344CB8AC3E}">
        <p14:creationId xmlns:p14="http://schemas.microsoft.com/office/powerpoint/2010/main" val="15886678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896A6-3920-4A29-BF2E-50E7F735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Quando os EUA de baixa exigência podem receber mais sob consenso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8D473-16CB-4875-AABC-F4241318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FE78B-2472-4EAB-9419-DDE78D17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6FC8F-5208-48C0-9821-0A1D6804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4775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7684C-2F8E-4DE0-9112-B2CA248B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BE7CF-3685-44C6-9E89-D5EAF1EE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5732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As cinco condições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70DCB6-849E-4FA8-80F3-055CED23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048875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1. Exigência mínima para aceitar parcialmente privada.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2. Maioria sem os EUA viável e capaz de contornar sua informação.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3. Consenso torna a objeção norte-americana incontornável no domínio modelado.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4. Crença alta sustenta pooling.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5. ΔRI₀(sU,sM) &gt; G(o₀).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52F37-174D-4773-8DAF-FCD92FA9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7716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43B5D"/>
                </a:solidFill>
              </a:defRPr>
            </a:pPr>
            <a:r>
              <a:rPr sz="2025" b="1">
                <a:solidFill>
                  <a:srgbClr val="143B5D"/>
                </a:solidFill>
              </a:rPr>
              <a:t>Preferência interina do tipo baixo, sob regra fixa — não uma preferência ex ante de todos os tipos.</a:t>
            </a:r>
          </a:p>
        </p:txBody>
      </p:sp>
    </p:spTree>
    <p:extLst>
      <p:ext uri="{BB962C8B-B14F-4D97-AF65-F5344CB8AC3E}">
        <p14:creationId xmlns:p14="http://schemas.microsoft.com/office/powerpoint/2010/main" val="4833614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8E32E5-E232-4100-B833-25C0F15B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Três poderes, uma conclusão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CE312-D900-4B3E-8D93-A30A4A6F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4731B-6C1B-4A0F-80C1-684F56C7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F7F03-3C82-4192-8DFF-7E8051FE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BDAF1-902C-4078-93B7-2A197894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85EC5-E1DD-4710-97D6-AA19C24B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Exigência externa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915C1-CB02-4714-A720-E2696650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Força fora da instituição.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FB289-738E-4A24-8698-6701EC39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C59E1-57D5-4832-8289-F25C4777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C7FB3-A932-4D80-829C-89AED6DE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Pivotalidade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F2ED1-15DB-45B3-AB58-A23840AA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Ausência de substituto para o voto.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E7FED-395F-4E91-9B5A-5687F017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64909-3879-47D7-A41A-B9381E6B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6D057-2D2E-49E8-8B83-1AC890F7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Agenda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656F0A-A257-4939-90E3-E85EAF7D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Capacidade de escolher a proposta.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8B33C1-9425-4B15-8DE0-69868F39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29125"/>
            <a:ext cx="990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9483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3B5D"/>
                </a:solidFill>
              </a:defRPr>
            </a:pPr>
            <a:r>
              <a:rPr sz="2550" b="1">
                <a:solidFill>
                  <a:srgbClr val="143B5D"/>
                </a:solidFill>
              </a:rPr>
              <a:t>CONSENSO PODE TRANSFORMAR INFORMAÇÃO PRIVADA EM PODER QUANDO TORNA O VOTO INFORMADO INCONTORNÁVEL.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CC3A9-C674-4A0F-9E28-42877594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27E"/>
                </a:solidFill>
              </a:defRPr>
            </a:pPr>
            <a:r>
              <a:rPr sz="1200" b="0">
                <a:solidFill>
                  <a:srgbClr val="66727E"/>
                </a:solidFill>
              </a:rPr>
              <a:t>Comparação institucional condicional; sem estágio endógeno de escolha da regra e sem teste de um episódio específico da OMC.</a:t>
            </a:r>
          </a:p>
        </p:txBody>
      </p:sp>
    </p:spTree>
    <p:extLst>
      <p:ext uri="{BB962C8B-B14F-4D97-AF65-F5344CB8AC3E}">
        <p14:creationId xmlns:p14="http://schemas.microsoft.com/office/powerpoint/2010/main" val="1703835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2026-08-31T01:15:24.1710000Z</dcterms:created>
  <dcterms:modified xsi:type="dcterms:W3CDTF">2026-08-31T01:15:24.1720000Z</dcterms:modified>
</coreProperties>
</file>