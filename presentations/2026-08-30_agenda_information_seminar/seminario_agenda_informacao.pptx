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5031c70334d04" /><Relationship Type="http://schemas.openxmlformats.org/officeDocument/2006/relationships/extended-properties" Target="/docProps/app.xml" Id="R80bf8f3d7a4843ef" /><Relationship Type="http://schemas.openxmlformats.org/officeDocument/2006/relationships/officeDocument" Target="/ppt/presentation.xml" Id="R4f753171d5e3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becbd963fa4672"/>
  </p:sldMasterIdLst>
  <p:notesMasterIdLst>
    <p:notesMasterId xmlns:r="http://schemas.openxmlformats.org/officeDocument/2006/relationships" r:id="R6166ef4cf1624a9f"/>
  </p:notesMasterIdLst>
  <p:sldIdLst>
    <p:sldId xmlns:r="http://schemas.openxmlformats.org/officeDocument/2006/relationships" id="256" r:id="R6147eb68aa374411"/>
    <p:sldId xmlns:r="http://schemas.openxmlformats.org/officeDocument/2006/relationships" id="257" r:id="Rc55f6529eea24be4"/>
    <p:sldId xmlns:r="http://schemas.openxmlformats.org/officeDocument/2006/relationships" id="258" r:id="R035c389a766a4604"/>
    <p:sldId xmlns:r="http://schemas.openxmlformats.org/officeDocument/2006/relationships" id="259" r:id="R8037326a1bf24eaf"/>
    <p:sldId xmlns:r="http://schemas.openxmlformats.org/officeDocument/2006/relationships" id="260" r:id="R042c2a22ae004161"/>
    <p:sldId xmlns:r="http://schemas.openxmlformats.org/officeDocument/2006/relationships" id="261" r:id="Rdfe21713aa234b46"/>
    <p:sldId xmlns:r="http://schemas.openxmlformats.org/officeDocument/2006/relationships" id="262" r:id="Rb55f4a8760594fec"/>
    <p:sldId xmlns:r="http://schemas.openxmlformats.org/officeDocument/2006/relationships" id="263" r:id="R504b0d1023eb4355"/>
    <p:sldId xmlns:r="http://schemas.openxmlformats.org/officeDocument/2006/relationships" id="264" r:id="Reb1ecd060e3f442f"/>
    <p:sldId xmlns:r="http://schemas.openxmlformats.org/officeDocument/2006/relationships" id="265" r:id="R453452dc6a164f21"/>
    <p:sldId xmlns:r="http://schemas.openxmlformats.org/officeDocument/2006/relationships" id="266" r:id="R729750d16a814209"/>
    <p:sldId xmlns:r="http://schemas.openxmlformats.org/officeDocument/2006/relationships" id="267" r:id="Rf97f581002f644e9"/>
    <p:sldId xmlns:r="http://schemas.openxmlformats.org/officeDocument/2006/relationships" id="268" r:id="R4fd6170e833b43ec"/>
    <p:sldId xmlns:r="http://schemas.openxmlformats.org/officeDocument/2006/relationships" id="269" r:id="R8e3a3e5b34124a78"/>
    <p:sldId xmlns:r="http://schemas.openxmlformats.org/officeDocument/2006/relationships" id="270" r:id="R2a6e67eda3064aa4"/>
    <p:sldId xmlns:r="http://schemas.openxmlformats.org/officeDocument/2006/relationships" id="271" r:id="R495b55676eca47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508f8441a4f48" /><Relationship Type="http://schemas.openxmlformats.org/officeDocument/2006/relationships/slideMaster" Target="/ppt/slideMasters/slideMaster1.xml" Id="R43becbd963fa4672" /><Relationship Type="http://schemas.openxmlformats.org/officeDocument/2006/relationships/notesMaster" Target="/ppt/notesMasters/notesMaster1.xml" Id="R6166ef4cf1624a9f" /><Relationship Type="http://schemas.openxmlformats.org/officeDocument/2006/relationships/presProps" Target="/ppt/presProps.xml" Id="Rd304d924ad0b4644" /><Relationship Type="http://schemas.openxmlformats.org/officeDocument/2006/relationships/tableStyles" Target="/ppt/tableStyles.xml" Id="R46c98eb41bf84ee8" /><Relationship Type="http://schemas.openxmlformats.org/officeDocument/2006/relationships/slide" Target="/ppt/slides/slide1.xml" Id="R6147eb68aa374411" /><Relationship Type="http://schemas.openxmlformats.org/officeDocument/2006/relationships/slide" Target="/ppt/slides/slide2.xml" Id="Rc55f6529eea24be4" /><Relationship Type="http://schemas.openxmlformats.org/officeDocument/2006/relationships/slide" Target="/ppt/slides/slide3.xml" Id="R035c389a766a4604" /><Relationship Type="http://schemas.openxmlformats.org/officeDocument/2006/relationships/slide" Target="/ppt/slides/slide4.xml" Id="R8037326a1bf24eaf" /><Relationship Type="http://schemas.openxmlformats.org/officeDocument/2006/relationships/slide" Target="/ppt/slides/slide5.xml" Id="R042c2a22ae004161" /><Relationship Type="http://schemas.openxmlformats.org/officeDocument/2006/relationships/slide" Target="/ppt/slides/slide6.xml" Id="Rdfe21713aa234b46" /><Relationship Type="http://schemas.openxmlformats.org/officeDocument/2006/relationships/slide" Target="/ppt/slides/slide7.xml" Id="Rb55f4a8760594fec" /><Relationship Type="http://schemas.openxmlformats.org/officeDocument/2006/relationships/slide" Target="/ppt/slides/slide8.xml" Id="R504b0d1023eb4355" /><Relationship Type="http://schemas.openxmlformats.org/officeDocument/2006/relationships/slide" Target="/ppt/slides/slide9.xml" Id="Reb1ecd060e3f442f" /><Relationship Type="http://schemas.openxmlformats.org/officeDocument/2006/relationships/slide" Target="/ppt/slides/slide10.xml" Id="R453452dc6a164f21" /><Relationship Type="http://schemas.openxmlformats.org/officeDocument/2006/relationships/slide" Target="/ppt/slides/slide11.xml" Id="R729750d16a814209" /><Relationship Type="http://schemas.openxmlformats.org/officeDocument/2006/relationships/slide" Target="/ppt/slides/slide12.xml" Id="Rf97f581002f644e9" /><Relationship Type="http://schemas.openxmlformats.org/officeDocument/2006/relationships/slide" Target="/ppt/slides/slide13.xml" Id="R4fd6170e833b43ec" /><Relationship Type="http://schemas.openxmlformats.org/officeDocument/2006/relationships/slide" Target="/ppt/slides/slide14.xml" Id="R8e3a3e5b34124a78" /><Relationship Type="http://schemas.openxmlformats.org/officeDocument/2006/relationships/slide" Target="/ppt/slides/slide15.xml" Id="R2a6e67eda3064aa4" /><Relationship Type="http://schemas.openxmlformats.org/officeDocument/2006/relationships/slide" Target="/ppt/slides/slide16.xml" Id="R495b55676eca47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01b12564f647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c33b2dea940e8" /><Relationship Type="http://schemas.openxmlformats.org/officeDocument/2006/relationships/notesMaster" Target="/ppt/notesMasters/notesMaster1.xml" Id="Ra33fa2327bc744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50a17aca324cb3" /><Relationship Type="http://schemas.openxmlformats.org/officeDocument/2006/relationships/notesMaster" Target="/ppt/notesMasters/notesMaster1.xml" Id="R6ccd64ac96124a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4460d685e247ea" /><Relationship Type="http://schemas.openxmlformats.org/officeDocument/2006/relationships/notesMaster" Target="/ppt/notesMasters/notesMaster1.xml" Id="Rb0d198df2c7440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663c6dd91e4bd4" /><Relationship Type="http://schemas.openxmlformats.org/officeDocument/2006/relationships/notesMaster" Target="/ppt/notesMasters/notesMaster1.xml" Id="R562c2cdc74794a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1179f1c0ef470c" /><Relationship Type="http://schemas.openxmlformats.org/officeDocument/2006/relationships/notesMaster" Target="/ppt/notesMasters/notesMaster1.xml" Id="Rd7aaa131ee5947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ee00f6b96240e6" /><Relationship Type="http://schemas.openxmlformats.org/officeDocument/2006/relationships/notesMaster" Target="/ppt/notesMasters/notesMaster1.xml" Id="Rd12ab12b6a5d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a498de13a84d07" /><Relationship Type="http://schemas.openxmlformats.org/officeDocument/2006/relationships/notesMaster" Target="/ppt/notesMasters/notesMaster1.xml" Id="R5d06ef67165546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032cdbe0e44415" /><Relationship Type="http://schemas.openxmlformats.org/officeDocument/2006/relationships/notesMaster" Target="/ppt/notesMasters/notesMaster1.xml" Id="Raf8129f35a1848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1034e1d6e941a6" /><Relationship Type="http://schemas.openxmlformats.org/officeDocument/2006/relationships/notesMaster" Target="/ppt/notesMasters/notesMaster1.xml" Id="R8bee8448f92d4e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36d58cc39c47b1" /><Relationship Type="http://schemas.openxmlformats.org/officeDocument/2006/relationships/notesMaster" Target="/ppt/notesMasters/notesMaster1.xml" Id="R88473b03668949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63ccb449e04c3f" /><Relationship Type="http://schemas.openxmlformats.org/officeDocument/2006/relationships/notesMaster" Target="/ppt/notesMasters/notesMaster1.xml" Id="Rac33ce20d43640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a35d1de95c446b" /><Relationship Type="http://schemas.openxmlformats.org/officeDocument/2006/relationships/notesMaster" Target="/ppt/notesMasters/notesMaster1.xml" Id="Rbce516598fcf44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ec684a5e414f9d" /><Relationship Type="http://schemas.openxmlformats.org/officeDocument/2006/relationships/notesMaster" Target="/ppt/notesMasters/notesMaster1.xml" Id="Rf7f977a904b643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9822c70c204abd" /><Relationship Type="http://schemas.openxmlformats.org/officeDocument/2006/relationships/notesMaster" Target="/ppt/notesMasters/notesMaster1.xml" Id="R24f65638571e43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1e8c4fcb4a458f" /><Relationship Type="http://schemas.openxmlformats.org/officeDocument/2006/relationships/notesMaster" Target="/ppt/notesMasters/notesMaster1.xml" Id="Raed2dc1489324d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3fe37a33e44245" /><Relationship Type="http://schemas.openxmlformats.org/officeDocument/2006/relationships/notesMaster" Target="/ppt/notesMasters/notesMaster1.xml" Id="Rcd82ea00fa4c42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62db531b345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f6922092ea45f2" /><Relationship Type="http://schemas.openxmlformats.org/officeDocument/2006/relationships/slideLayout" Target="/ppt/slideLayouts/slideLayout1.xml" Id="R81dd909a1d6443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d909a1d6443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e6f7ecd69403a" /><Relationship Type="http://schemas.openxmlformats.org/officeDocument/2006/relationships/notesSlide" Target="/ppt/notesSlides/notesSlide1.xml" Id="Ra9660cad0fb142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ff7d20dca48bf" /><Relationship Type="http://schemas.openxmlformats.org/officeDocument/2006/relationships/notesSlide" Target="/ppt/notesSlides/notesSlide2.xml" Id="R9fe66c143f7a4e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bf795188548d0" /><Relationship Type="http://schemas.openxmlformats.org/officeDocument/2006/relationships/notesSlide" Target="/ppt/notesSlides/notesSlide3.xml" Id="R0747e742c10143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fe84b38fb42e2" /><Relationship Type="http://schemas.openxmlformats.org/officeDocument/2006/relationships/notesSlide" Target="/ppt/notesSlides/notesSlide4.xml" Id="R0acb0231afca49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d52c0dc034295" /><Relationship Type="http://schemas.openxmlformats.org/officeDocument/2006/relationships/notesSlide" Target="/ppt/notesSlides/notesSlide5.xml" Id="R9e677d2df92942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033a8b62144e1" /><Relationship Type="http://schemas.openxmlformats.org/officeDocument/2006/relationships/image" Target="/ppt/media/image.png" Id="Red3be73c3cab4ccc" /><Relationship Type="http://schemas.openxmlformats.org/officeDocument/2006/relationships/notesSlide" Target="/ppt/notesSlides/notesSlide6.xml" Id="R429e9599cd624b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eb53ac3ec4d5c" /><Relationship Type="http://schemas.openxmlformats.org/officeDocument/2006/relationships/image" Target="/ppt/media/image2.png" Id="Rcfff8fc48b0b4379" /><Relationship Type="http://schemas.openxmlformats.org/officeDocument/2006/relationships/notesSlide" Target="/ppt/notesSlides/notesSlide7.xml" Id="R11444d64941140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08a6a06e84f15" /><Relationship Type="http://schemas.openxmlformats.org/officeDocument/2006/relationships/notesSlide" Target="/ppt/notesSlides/notesSlide8.xml" Id="Rf9bdc49fc6dd45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64c114d4541fb" /><Relationship Type="http://schemas.openxmlformats.org/officeDocument/2006/relationships/notesSlide" Target="/ppt/notesSlides/notesSlide9.xml" Id="Ra38147b1981046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4d8b056af4371" /><Relationship Type="http://schemas.openxmlformats.org/officeDocument/2006/relationships/image" Target="/ppt/media/image3.png" Id="Re3434c0dda694005" /><Relationship Type="http://schemas.openxmlformats.org/officeDocument/2006/relationships/notesSlide" Target="/ppt/notesSlides/notesSlide10.xml" Id="R83c826e67d7f4a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d2140f94d4004" /><Relationship Type="http://schemas.openxmlformats.org/officeDocument/2006/relationships/notesSlide" Target="/ppt/notesSlides/notesSlide11.xml" Id="Rb7900dc5e84240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46be8bd014e63" /><Relationship Type="http://schemas.openxmlformats.org/officeDocument/2006/relationships/notesSlide" Target="/ppt/notesSlides/notesSlide12.xml" Id="Rb500d8ce3f0f4a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c40fba89d48ba" /><Relationship Type="http://schemas.openxmlformats.org/officeDocument/2006/relationships/notesSlide" Target="/ppt/notesSlides/notesSlide13.xml" Id="R2140a9b730964c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3ee94ed1d4d56" /><Relationship Type="http://schemas.openxmlformats.org/officeDocument/2006/relationships/image" Target="/ppt/media/image4.png" Id="R8929b5cec24f4523" /><Relationship Type="http://schemas.openxmlformats.org/officeDocument/2006/relationships/notesSlide" Target="/ppt/notesSlides/notesSlide14.xml" Id="Re9be442908294d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6196dc77343ea" /><Relationship Type="http://schemas.openxmlformats.org/officeDocument/2006/relationships/notesSlide" Target="/ppt/notesSlides/notesSlide15.xml" Id="R0ef8d6eea92b48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79bf793564554" /><Relationship Type="http://schemas.openxmlformats.org/officeDocument/2006/relationships/notesSlide" Target="/ppt/notesSlides/notesSlide16.xml" Id="R34251915f5e14d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17A9F-FA1D-4BAC-B548-D7B196E9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71644-9169-4CFC-8772-A44C4C6A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57300"/>
            <a:ext cx="695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3B5D"/>
                </a:solidFill>
              </a:defRPr>
            </a:pPr>
            <a:r>
              <a:rPr sz="3750" b="1">
                <a:solidFill>
                  <a:srgbClr val="143B5D"/>
                </a:solidFill>
              </a:rPr>
              <a:t>QUANDO O CONSENSO</a:t>
            </a:r>
          </a:p>
          <a:p xmlns:a="http://schemas.openxmlformats.org/drawingml/2006/main">
            <a:pPr algn="l">
              <a:defRPr sz="3750" b="1">
                <a:solidFill>
                  <a:srgbClr val="143B5D"/>
                </a:solidFill>
              </a:defRPr>
            </a:pPr>
            <a:r>
              <a:rPr sz="3750" b="1">
                <a:solidFill>
                  <a:srgbClr val="143B5D"/>
                </a:solidFill>
              </a:rPr>
              <a:t>PODE DAR PODER AO HEGEMON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B2BF8-BD89-4159-A924-D0758958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27E"/>
                </a:solidFill>
              </a:defRPr>
            </a:pPr>
            <a:r>
              <a:rPr sz="1875" b="0">
                <a:solidFill>
                  <a:srgbClr val="66727E"/>
                </a:solidFill>
              </a:rPr>
              <a:t>Agenda, indispensabilidade e renda informacional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10A76-7F03-4FD7-B8E6-B9AB6D4C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6F427-D8D6-4986-B3B0-7DE713A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FB518-65EB-4BE7-B252-4D6D44E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5525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A pergunta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973C1-94BB-487C-9715-3D79080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00250"/>
            <a:ext cx="242887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Como o consenso pode elevar o payoff de um hegemon em relação à maioria?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799CF-9FC3-4DEE-90FA-318A43C5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864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7E"/>
                </a:solidFill>
              </a:defRPr>
            </a:pPr>
            <a:r>
              <a:rPr sz="1200" b="0">
                <a:solidFill>
                  <a:srgbClr val="66727E"/>
                </a:solidFill>
              </a:rPr>
              <a:t>Manoel Galdino  •  Seminário de Economia Política Internacional</a:t>
            </a:r>
          </a:p>
        </p:txBody>
      </p:sp>
    </p:spTree>
    <p:extLst>
      <p:ext uri="{BB962C8B-B14F-4D97-AF65-F5344CB8AC3E}">
        <p14:creationId xmlns:p14="http://schemas.microsoft.com/office/powerpoint/2010/main" val="1163727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2B47C-2EEF-4967-87D6-4E166308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O paradoxo da OMC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BAAD4-4359-4EBE-8890-B75293BF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90799-39FD-4B6C-BCFF-2B7DBA9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A30E6-2F34-4E21-A327-7D17432E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C84F8-361B-41C9-8133-EEBB0318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6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0E53C-E3CE-4587-A09E-6DCEEF67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5257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Igualdade formal na OMC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C56BE-B8A1-492E-9FAD-21920C0D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524375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Duas fontes de igualdade: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O consenso implica que todos possuem igual poder de veto.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Não há controle formal de agenda por nenhum agente.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80537-C0AC-4597-A195-4C95C81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81125"/>
            <a:ext cx="538162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62C60E-D51D-4440-9A95-570EA79B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81125"/>
            <a:ext cx="76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44C30-85E3-4C15-8FC5-A27CA678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52575"/>
            <a:ext cx="498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A pergunta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AB4C8-5F51-4F48-84A7-6C6E83FA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00250"/>
            <a:ext cx="49530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Como assimetria de poder no SI é consistente com igualdade formal em uma IO?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9423D-7AD6-4771-82AE-1913DC16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E"/>
                </a:solidFill>
              </a:defRPr>
            </a:pPr>
            <a:r>
              <a:rPr sz="825" b="0">
                <a:solidFill>
                  <a:srgbClr val="66727E"/>
                </a:solidFill>
              </a:rPr>
              <a:t>Art. IX. Com sim na indiferença, consenso e unanimidade são equivalentes no domínio modelado; aplicação teórica.</a:t>
            </a:r>
          </a:p>
        </p:txBody>
      </p:sp>
    </p:spTree>
    <p:extLst>
      <p:ext uri="{BB962C8B-B14F-4D97-AF65-F5344CB8AC3E}">
        <p14:creationId xmlns:p14="http://schemas.microsoft.com/office/powerpoint/2010/main" val="1611916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6336B-2C35-4FBB-8671-BC82528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A resposta convencional: pesos invisíveis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F22AD-3395-440D-BCD7-8BF8827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4B556-FDDC-4431-B5FB-983B5B1B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FC4ED-77F2-48EE-AD76-070A9DBC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3238500" cy="338137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8AB60-76EA-4879-88AF-118D19B8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62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65DF0-D693-43BA-A8B7-3138466C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Agenda informal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FD8BB-1319-491C-BDE7-F99DD5D0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28098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Controle de agenda informal; timing, alternativas e negociação antes da aprovação.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D37E6-3CCB-4FF6-A7EA-28365B30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3238500" cy="338137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1AD1E-D452-4041-A94B-7FDA7706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62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FE1EC-5FE8-47F1-9650-55AD764B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240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Poder material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761F3-91F1-4FDE-911E-2A4AE988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71675"/>
            <a:ext cx="28098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Ameaça de saída, coerção e fechamento de opções.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88D0C-830A-4126-84AB-EEA0536C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52550"/>
            <a:ext cx="3238500" cy="338137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502FF-6BDB-4438-9748-8ED40292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52550"/>
            <a:ext cx="762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08EC5-363F-41FC-97EB-7D5DECC1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2400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Consenso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6486E-4AA4-4CA4-8799-226643DD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71675"/>
            <a:ext cx="2809875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Legitima formalmente um acordo já moldado na negociação informal.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EBDC2-5CF2-4081-A545-872CAFE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858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B5D"/>
                </a:solidFill>
              </a:defRPr>
            </a:pPr>
            <a:r>
              <a:rPr sz="2025" b="1">
                <a:solidFill>
                  <a:srgbClr val="143B5D"/>
                </a:solidFill>
              </a:rPr>
              <a:t>Nossa pergunta adicional: o que a regra faz com a informação privada do hegemon?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0C600-8811-4F3F-8BC1-8ECEF354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E"/>
                </a:solidFill>
              </a:defRPr>
            </a:pPr>
            <a:r>
              <a:rPr sz="825" b="0">
                <a:solidFill>
                  <a:srgbClr val="66727E"/>
                </a:solidFill>
              </a:rPr>
              <a:t>Steinberg (2002), “In the Shadow of Law or Power?”.</a:t>
            </a:r>
          </a:p>
        </p:txBody>
      </p:sp>
    </p:spTree>
    <p:extLst>
      <p:ext uri="{BB962C8B-B14F-4D97-AF65-F5344CB8AC3E}">
        <p14:creationId xmlns:p14="http://schemas.microsoft.com/office/powerpoint/2010/main" val="341972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3183B-4E67-45FB-A04A-90F04BC0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A margem que Steinberg deixa em aberto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EF155-BBC1-4D0E-AC11-8DDA3CF3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FE065-32CA-4B5C-9A34-E470CE3B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80758-FE21-4636-A413-D1CD0109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D447B-1ABB-4980-B665-54901363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601A7-CF12-4372-8F2D-A767433E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Na explicação convencional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D9CB7-97C4-4E52-ADF4-ADADDFD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46672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A potência molda texto, timing e alternativas.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Sua força material disciplina os fracos.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O consenso ratifica um pacote trabalhado informalmente.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F9106-3B28-4E5E-8070-BCE9747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3350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47284-7F3B-4245-9F04-7AEDBDE4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335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2C0D0-6433-47E4-BE85-E124E82F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04950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No nosso contrafactual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871AA-87C8-421C-BA02-C959304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52625"/>
            <a:ext cx="46672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H conhece sua própria exigência para aceitar.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Os proponentes fracos não a observam.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Retiramos de H a iniciativa formal: πH = 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7701-8040-49C6-BDD2-96F6EE57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43500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B5D"/>
                </a:solidFill>
              </a:defRPr>
            </a:pPr>
            <a:r>
              <a:rPr sz="2025" b="1">
                <a:solidFill>
                  <a:srgbClr val="143B5D"/>
                </a:solidFill>
              </a:rPr>
              <a:t>A regra pode dar poder à informação do hegemon antes de lhe devolvermos a agenda?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612AB-3352-4B6B-983F-70B1FDC9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E"/>
                </a:solidFill>
              </a:defRPr>
            </a:pPr>
            <a:r>
              <a:rPr sz="825" b="0">
                <a:solidFill>
                  <a:srgbClr val="66727E"/>
                </a:solidFill>
              </a:rPr>
              <a:t>πH = 0 remove o direito formal de propor; não elimina toda a influência informal sobre agenda descrita por Steinberg.</a:t>
            </a:r>
          </a:p>
        </p:txBody>
      </p:sp>
    </p:spTree>
    <p:extLst>
      <p:ext uri="{BB962C8B-B14F-4D97-AF65-F5344CB8AC3E}">
        <p14:creationId xmlns:p14="http://schemas.microsoft.com/office/powerpoint/2010/main" val="1946247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2FA62-1645-454C-AD9C-08D4595F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Arquitetura mínima do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4236D-A14D-4787-B698-068BB7CE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BA9C7-52F2-439F-B7D8-7BE024C1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11F71-A8AB-44CA-A488-F395AFC2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82B61-CC4B-4FD5-8125-173EDC5B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4405C-F803-4E87-9B78-372119EB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5257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Atores e informação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5EC5F-04D7-4C52-A8D5-C205C93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52437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Um hegemon H e m ≥ 3 Estados fracos.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H conhece sua exigência mínima: o₁ &gt; o₀.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Os fracos conhecem apenas ν = Pr(θ = 1).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29654-7427-45ED-8089-CBCB7942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81125"/>
            <a:ext cx="53816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A08DD-3337-4DB2-8CD5-8BB46371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81125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DA21D-CC5F-411B-A2B2-49377495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552575"/>
            <a:ext cx="498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Instituições e tempo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B3B6C-035E-4DCE-8D59-FF2B488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00250"/>
            <a:ext cx="4953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Dois períodos; desconto β.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O pacote y concede excedente a H.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Maioria pode excluir H.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Unanimidade exige seu sim.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78AFF-ECB4-45E4-85C4-63B73981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3B5D"/>
                </a:solidFill>
              </a:defRPr>
            </a:pPr>
            <a:r>
              <a:rPr sz="1950" b="1">
                <a:solidFill>
                  <a:srgbClr val="143B5D"/>
                </a:solidFill>
              </a:rPr>
              <a:t>A regra muda se uma coalizão pode contornar o voto informado.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A88F6-2496-4F4E-B8CB-743958A7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E"/>
                </a:solidFill>
              </a:defRPr>
            </a:pPr>
            <a:r>
              <a:rPr sz="825" b="0">
                <a:solidFill>
                  <a:srgbClr val="66727E"/>
                </a:solidFill>
              </a:rPr>
              <a:t>R1: fraco propõe → votos → acordo/continuação β → R2 terminal: fraco propõe → acordo/desacordo.</a:t>
            </a:r>
          </a:p>
        </p:txBody>
      </p:sp>
    </p:spTree>
    <p:extLst>
      <p:ext uri="{BB962C8B-B14F-4D97-AF65-F5344CB8AC3E}">
        <p14:creationId xmlns:p14="http://schemas.microsoft.com/office/powerpoint/2010/main" val="341164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be73c3cab4cc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96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f8fc48b0b43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11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4B16F-B50C-4BCF-AB8E-B92D2073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Com informação privada, as regras ativam jogos distintos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1D2EC-9DAC-446B-A3CC-BFAE5605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4428B-F8D6-4F90-87DA-4B585C7A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4E198-A274-40B4-85AC-C770DA6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00062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30031-0942-4F28-88D4-72C3CBD5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ECD6B-D167-4A67-AA31-FD6C491E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52575"/>
            <a:ext cx="4600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Maioria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15111-DE89-4879-949A-37F59D3E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5720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Pode contornar H.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Screening, pooling e exclusão.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A exigência de H pode ser evitada por uma coalizão alternativa.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AA322-C7DB-4A53-BBD1-9998B436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19112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6EF76-E016-4A0D-B7EE-3FB4E391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FBA3F-4227-414F-BE2D-E791F605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52575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Unanimidade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C3F83-2837-4D5C-A5BA-77ED51A1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00250"/>
            <a:ext cx="47625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Todo acordo compra o sim de H.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Crença baixa: oferta ao tipo baixo.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Crença intermediária: não há PBE puro.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Crença alta: pooling no limiar alto.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DBF89-40A6-4AFA-B9F6-C966B54E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0070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B5D"/>
                </a:solidFill>
              </a:defRPr>
            </a:pPr>
            <a:r>
              <a:rPr sz="1875" b="1">
                <a:solidFill>
                  <a:srgbClr val="143B5D"/>
                </a:solidFill>
              </a:rPr>
              <a:t>No pooling, a baixa exigência é paga como se pudesse ser alta.</a:t>
            </a:r>
          </a:p>
        </p:txBody>
      </p:sp>
    </p:spTree>
    <p:extLst>
      <p:ext uri="{BB962C8B-B14F-4D97-AF65-F5344CB8AC3E}">
        <p14:creationId xmlns:p14="http://schemas.microsoft.com/office/powerpoint/2010/main" val="7239905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F6CE9-75E2-428C-B938-CEB6C0F1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Como identificar a fonte do ganho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8E0D5-7B1B-4FD4-931B-4ABD75D6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796CF-ABD8-4830-88EC-3B0E372C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0A727-2949-4F45-B82E-4E76E4B4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5DF43-C9C1-4BD9-B8FE-3F21A0CE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5D7A8-3D0D-48D2-A8D2-050F63E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52575"/>
            <a:ext cx="1007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Fixe um par de equilíbrios comparáveis (sM, sU)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67532-285F-4551-A92D-E9C7E25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1004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RIgθ(sg) = Vg(priv, θ; sg) − hg(oθ)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D685A-D472-49E9-8C1B-2258419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477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A5A8B-55C8-4ED6-879F-6CA802F2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768FF-5166-459B-9D3A-A670A4FA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1007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Mudança institucional do prêmio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21ECE-6EC7-42AE-B09C-CC73E81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0425"/>
            <a:ext cx="1004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ΔRIθ(sU,sM) = RIUθ(sU) − RIMθ(sM)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D6C5D-2C66-4BBD-B3D3-21066F57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1047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9DAFF-A76A-4A8B-844B-2F6203CB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D717D-5A04-4A9E-9F84-0A2DE93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1007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Teste da reversão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C47AC-73FD-4DA7-AE22-440772A9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1004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δθ(sU,sM) = −G(oθ) + ΔRIθ(sU,sM)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6A8EF-D1DE-4730-8DEF-5B416384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4357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27E"/>
                </a:solidFill>
              </a:defRPr>
            </a:pPr>
            <a:r>
              <a:rPr sz="1500" b="0">
                <a:solidFill>
                  <a:srgbClr val="66727E"/>
                </a:solidFill>
              </a:rPr>
              <a:t>Se G(o₀) &gt; 0 e δ₀ &gt; 0, então ΔRI₀ &gt; G(o₀). Resultado existencial equilíbrio a equilíbrio.</a:t>
            </a:r>
          </a:p>
        </p:txBody>
      </p:sp>
    </p:spTree>
    <p:extLst>
      <p:ext uri="{BB962C8B-B14F-4D97-AF65-F5344CB8AC3E}">
        <p14:creationId xmlns:p14="http://schemas.microsoft.com/office/powerpoint/2010/main" val="740166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34c0dda69400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121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BEFDE-4A11-465B-B090-0A8412F9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GEB: a mesma base institucional, outra 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F3477-64A6-4C99-B209-999740A8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2D949-2FE2-488F-BD74-076FFA06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A0C36-972A-48DF-B96F-B9ED503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095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CE29B-2F41-4716-9368-1862BDF5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FF718-CE24-44F6-B3AA-E65FF17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573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Piazolo–Vanberg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801C7-543C-4359-9C78-F45C1812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667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Dois respondentes simétricos têm custos privados.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Maioria disciplina por exclusão: recorre ao outro, também informado.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Unanimidade aumenta o valor de parecer exigente.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Rejeição altera preços futuros; também há pooling imediato.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10AF8-A7CC-4CDD-8E86-55D9B2EE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85875"/>
            <a:ext cx="5095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6DCA4-AEA6-4A4E-BED6-7E0B2EAC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85875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C6C0C-061B-43D4-99A3-BE253FFD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4573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Este modelo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EE437-B0E4-48E6-94D4-6A07DB5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05000"/>
            <a:ext cx="4667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Toda a informação privada está num único H.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Maioria o substitui por coalizão sem informação sobre θ.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Unanimidade torna a única exigência privada incontornável.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Mapeamos RIgθ e ΔRIθ por tipo.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692AE-1F79-4609-AA24-613A34E9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Não contrapomos sinalização e indispensabilidade. Mudamos a arquitetura e o estimando.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24964-518D-4A6C-94D9-2948BC05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E"/>
                </a:solidFill>
              </a:defRPr>
            </a:pPr>
            <a:r>
              <a:rPr sz="825" b="0">
                <a:solidFill>
                  <a:srgbClr val="66727E"/>
                </a:solidFill>
              </a:rPr>
              <a:t>No GEB, uma oferta alta também deixa renda ao tipo baixo: a espécie da renda não é nova.</a:t>
            </a:r>
          </a:p>
        </p:txBody>
      </p:sp>
    </p:spTree>
    <p:extLst>
      <p:ext uri="{BB962C8B-B14F-4D97-AF65-F5344CB8AC3E}">
        <p14:creationId xmlns:p14="http://schemas.microsoft.com/office/powerpoint/2010/main" val="19972387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37AEF-6B51-4A7E-86F3-845775A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Public Choice: o mesmo seguro, outro portador do poder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CC49F-7876-4E9E-95E5-8A94D68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D11BE-ED1D-4014-9858-56439C1F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16F46-14DF-4788-B0B9-A5D91BB0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095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707A5-B7BB-46EE-AA11-E2DCBD72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06CBD-AFE8-4147-9FDD-FBBFD8CF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573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Glynia–Thum–Xefteris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D8106-2FD5-4311-AF5B-C7A52F97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667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Agenda setter fixo e desinformado.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Dois respondentes simétricos conhecem seus custos.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Uma oferta: seguro caro versus aposta barata.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Foco em aprovação, transferências e payoff do proponente.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F0109-EB33-436D-9F67-639F559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85875"/>
            <a:ext cx="5095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8A93D-356B-4660-8ED5-D5E1F9F1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85875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2DBE4-054C-46BB-9385-191025F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457325"/>
            <a:ext cx="4695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Nossa mudança de estimando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D2625-9AFD-445D-9B51-73F5F741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05000"/>
            <a:ext cx="4667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Payoff interino do único ator assimétrico.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Benchmark público do mesmo tipo e regra.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Maioria pode eliminar toda a informação de H da coalizão.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• Na extensão, o mesmo H informado recebe agenda.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AE6F4-428D-40EF-9CFB-AB33D8A1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673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91528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Não reivindicamos uma nova renda de pooling: seguimos quem a recebe e como ela muda com agenda.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3A282-739D-4374-915C-2E8E2437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E"/>
                </a:solidFill>
              </a:defRPr>
            </a:pPr>
            <a:r>
              <a:rPr sz="825" b="0">
                <a:solidFill>
                  <a:srgbClr val="66727E"/>
                </a:solidFill>
              </a:rPr>
              <a:t>O Public Choice também contém benchmark público e renda do tipo barato numa oferta aceita por ambos.</a:t>
            </a:r>
          </a:p>
        </p:txBody>
      </p:sp>
    </p:spTree>
    <p:extLst>
      <p:ext uri="{BB962C8B-B14F-4D97-AF65-F5344CB8AC3E}">
        <p14:creationId xmlns:p14="http://schemas.microsoft.com/office/powerpoint/2010/main" val="19333082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0738B-DBF0-4AEE-B31F-CD8ED3D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Segundo resultado: o ator informado atravessa o balcão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9EBA3-F01C-4F0D-8E54-E8FE4CEE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6FF56-3CC5-4136-90DD-6E743A1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FAA30-7F49-4401-A0C2-992C6012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4191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1274B-9815-4D03-8149-B202095A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E7B3B-D36E-4171-B4C2-0CF3222B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732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Sem agenda de H (N)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5A848-F839-428A-99DF-D12543A1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3762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Fraco desinformado propõe.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H informado responde.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BFBC4-1CB2-43E9-B11B-F86C191E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5737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76F51"/>
                </a:solidFill>
              </a:defRPr>
            </a:pPr>
            <a:r>
              <a:rPr sz="4050" b="1">
                <a:solidFill>
                  <a:srgbClr val="E76F51"/>
                </a:solidFill>
              </a:rPr>
              <a:t>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A022E-0B33-4940-A25E-8F881D86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85875"/>
            <a:ext cx="4191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62F87-5859-4E39-A749-EF34FD8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858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2ACE7-7A1B-40A6-8FE7-BD254CB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57325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Com agenda de H (A)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D5CCA-9EFC-4E11-A55D-981400E9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3762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H informado propõe.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Estados fracos respondem.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B82D2-39C8-4EB4-BA41-4328AD80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051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27E"/>
                </a:solidFill>
              </a:defRPr>
            </a:pPr>
            <a:r>
              <a:rPr sz="1425" b="1">
                <a:solidFill>
                  <a:srgbClr val="66727E"/>
                </a:solidFill>
              </a:rPr>
              <a:t>Em cada lado: tipo conhecido e tipo privado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8A0CA-70EC-4CE4-BEAA-E734EB4B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333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DC2EB-1266-4692-A4C2-0C375EB9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508C8-4780-4E1A-9CB7-5121D147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480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Efeito direto 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9EDC7-D16E-405A-8B42-01D819EC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905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Ganho de propor quando o tipo é conhecido.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02CB3-1F65-4F9B-AF16-7DAF6AE7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333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5F30F-E9F3-48CF-A796-2104157D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0EEB4-53B8-4B76-B547-AE78F17C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Interação 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39B52-82A8-4F2C-A64B-F59B08B2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95750"/>
            <a:ext cx="2905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Mudança na renda informacional causada pela agenda.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AF2CA-F2A6-4C01-B4D2-34F73F0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333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C685B-CF85-4DBA-833B-D349063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19FE7-DB0C-4841-B827-F2FD447F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480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Efeito total 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6F5238-0C0B-4C0C-B384-AB3F722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95750"/>
            <a:ext cx="2905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Tgθ = Dgθ + Igθ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2F58C-A04A-469B-AC02-003D529F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B5D"/>
                </a:solidFill>
              </a:defRPr>
            </a:pPr>
            <a:r>
              <a:rPr sz="1875" b="1">
                <a:solidFill>
                  <a:srgbClr val="143B5D"/>
                </a:solidFill>
              </a:rPr>
              <a:t>A agenda muda o papel do informado e a composição da renda que ele extrai.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AD55EB-8A27-45F5-A3B0-02A405D7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E"/>
                </a:solidFill>
              </a:defRPr>
            </a:pPr>
            <a:r>
              <a:rPr sz="825" b="0">
                <a:solidFill>
                  <a:srgbClr val="66727E"/>
                </a:solidFill>
              </a:rPr>
              <a:t>A proposta de H é uma etapa anterior e obrigatória; T = D + I é uma identidade fatorial.</a:t>
            </a:r>
          </a:p>
        </p:txBody>
      </p:sp>
    </p:spTree>
    <p:extLst>
      <p:ext uri="{BB962C8B-B14F-4D97-AF65-F5344CB8AC3E}">
        <p14:creationId xmlns:p14="http://schemas.microsoft.com/office/powerpoint/2010/main" val="14489614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9b5cec24f452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047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A8BA1-49E1-4F2D-9112-3F957AD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Quando os EUA de baixa exigência podem receber mais sob consenso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A3EA8-7177-4F9B-86DC-38B4AAF8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5CAF5-EE6A-40AE-82DB-D5C29C42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22298-5411-401A-8E8D-F82000EB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477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6DACD-4A30-4556-BE50-4678EB01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62EA1-6FE7-4050-8B94-59B91FBF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57325"/>
            <a:ext cx="1007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As cinco condições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76D04-1F1D-4FEF-BAEC-C03F9CB2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1004887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1. Exigência mínima para aceitar parcialmente privada.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2. Maioria sem os EUA viável e capaz de contornar sua informação.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3. Consenso torna a objeção norte-americana incontornável no domínio modelado.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4. Crença alta sustenta pooling.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5. ΔRI₀(sU,sM) &gt; G(o₀).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B3178-75E4-48E6-8364-6979F7DF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3B5D"/>
                </a:solidFill>
              </a:defRPr>
            </a:pPr>
            <a:r>
              <a:rPr sz="1800" b="1">
                <a:solidFill>
                  <a:srgbClr val="143B5D"/>
                </a:solidFill>
              </a:rPr>
              <a:t>Sem agenda: preferência interina do tipo baixo. Com agenda: o ranking entre regras depende de D e I.</a:t>
            </a:r>
          </a:p>
        </p:txBody>
      </p:sp>
    </p:spTree>
    <p:extLst>
      <p:ext uri="{BB962C8B-B14F-4D97-AF65-F5344CB8AC3E}">
        <p14:creationId xmlns:p14="http://schemas.microsoft.com/office/powerpoint/2010/main" val="12226228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2F316-0804-46F8-B47F-42E0F2BF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B5D"/>
                </a:solidFill>
              </a:defRPr>
            </a:pPr>
            <a:r>
              <a:rPr sz="2400" b="1">
                <a:solidFill>
                  <a:srgbClr val="143B5D"/>
                </a:solidFill>
              </a:rPr>
              <a:t>Três poderes, uma 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CBC84-A717-44A9-A422-5800EE1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ED3CD-EF89-451A-B13C-0FF6F1E8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2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27E"/>
                </a:solidFill>
              </a:defRPr>
            </a:pPr>
            <a:r>
              <a:rPr sz="1125" b="0">
                <a:solidFill>
                  <a:srgbClr val="66727E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51F22-5B81-4C30-854F-19904EE8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28612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C8FC7-8FD7-4DD6-BFBB-C62D20F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F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41A44-5183-4CA8-9C06-B68CCD95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47825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Exigência externa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C3BCB-5D65-4CBF-976F-872BC0FC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955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Força fora da instituição.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1CE4F-09E7-47FB-A466-96847BC2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476375"/>
            <a:ext cx="328612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D89C8-E3A1-4480-9D80-77747AB4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476375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18617-9445-4443-9111-83A03AE8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47825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Pivotalidade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F4576-53C1-4A5C-BFD1-0BC93577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955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Ausência de substituto para o voto.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5880C-8AB5-4B16-A9F5-55E81CE8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28612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DB98B-2E3E-43C5-B5EC-0E930033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762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EF1C1-72E6-4736-8E59-50DEA086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47825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B5D"/>
                </a:solidFill>
              </a:defRPr>
            </a:pPr>
            <a:r>
              <a:rPr sz="1725" b="1">
                <a:solidFill>
                  <a:srgbClr val="143B5D"/>
                </a:solidFill>
              </a:rPr>
              <a:t>Agenda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9C069-2861-4C5E-AEC0-46A306BA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85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Capacidade de escolher a proposta.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A3633-84D2-4587-B39D-7A392909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1019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B5D"/>
                </a:solidFill>
              </a:defRPr>
            </a:pPr>
            <a:r>
              <a:rPr sz="2175" b="1">
                <a:solidFill>
                  <a:srgbClr val="143B5D"/>
                </a:solidFill>
              </a:rPr>
              <a:t>CONSENSO TRANSFORMA INFORMAÇÃO EM PODER QUANDO O VOTO INFORMADO É INCONTORNÁVEL.</a:t>
            </a:r>
          </a:p>
          <a:p xmlns:a="http://schemas.openxmlformats.org/drawingml/2006/main">
            <a:pPr algn="ctr">
              <a:defRPr sz="2175" b="1">
                <a:solidFill>
                  <a:srgbClr val="143B5D"/>
                </a:solidFill>
              </a:defRPr>
            </a:pPr>
            <a:r>
              <a:rPr sz="2175" b="1">
                <a:solidFill>
                  <a:srgbClr val="143B5D"/>
                </a:solidFill>
              </a:rPr>
              <a:t>AGENDA ELEVA A EXTRAÇÃO DIRETA, MAS PODE COMPRIMIR A PARCELA INFORMACIONAL.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F3335-0568-4366-95C3-C32B165D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27E"/>
                </a:solidFill>
              </a:defRPr>
            </a:pPr>
            <a:r>
              <a:rPr sz="1200" b="0">
                <a:solidFill>
                  <a:srgbClr val="66727E"/>
                </a:solidFill>
              </a:rPr>
              <a:t>Comparação institucional condicional; sem estágio endógeno de escolha da regra e sem teste de um episódio específico da OMC.</a:t>
            </a:r>
          </a:p>
        </p:txBody>
      </p:sp>
    </p:spTree>
    <p:extLst>
      <p:ext uri="{BB962C8B-B14F-4D97-AF65-F5344CB8AC3E}">
        <p14:creationId xmlns:p14="http://schemas.microsoft.com/office/powerpoint/2010/main" val="143160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2026-08-31T18:46:54.3800000Z</dcterms:created>
  <dcterms:modified xsi:type="dcterms:W3CDTF">2026-08-31T18:46:54.3800000Z</dcterms:modified>
</coreProperties>
</file>