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81f77f9fe84fb6" /><Relationship Type="http://schemas.openxmlformats.org/officeDocument/2006/relationships/extended-properties" Target="/docProps/app.xml" Id="Rd285cc96114b4318" /><Relationship Type="http://schemas.openxmlformats.org/officeDocument/2006/relationships/officeDocument" Target="/ppt/presentation.xml" Id="R3d1652bf034d45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a236563a0449fc"/>
  </p:sldMasterIdLst>
  <p:notesMasterIdLst>
    <p:notesMasterId xmlns:r="http://schemas.openxmlformats.org/officeDocument/2006/relationships" r:id="R18253497f92a4bc7"/>
  </p:notesMasterIdLst>
  <p:sldIdLst>
    <p:sldId xmlns:r="http://schemas.openxmlformats.org/officeDocument/2006/relationships" id="256" r:id="Re3a127f2c0fd4d07"/>
    <p:sldId xmlns:r="http://schemas.openxmlformats.org/officeDocument/2006/relationships" id="257" r:id="R23d7c18414cb4efd"/>
    <p:sldId xmlns:r="http://schemas.openxmlformats.org/officeDocument/2006/relationships" id="258" r:id="Ref5c00aa6a11461e"/>
    <p:sldId xmlns:r="http://schemas.openxmlformats.org/officeDocument/2006/relationships" id="259" r:id="R4909a72314d6423b"/>
    <p:sldId xmlns:r="http://schemas.openxmlformats.org/officeDocument/2006/relationships" id="260" r:id="R29e729b73d1b422e"/>
    <p:sldId xmlns:r="http://schemas.openxmlformats.org/officeDocument/2006/relationships" id="261" r:id="R96e886238d6b4dc1"/>
    <p:sldId xmlns:r="http://schemas.openxmlformats.org/officeDocument/2006/relationships" id="262" r:id="R6f5eb40464394c0b"/>
    <p:sldId xmlns:r="http://schemas.openxmlformats.org/officeDocument/2006/relationships" id="263" r:id="Re94c039b159745ba"/>
    <p:sldId xmlns:r="http://schemas.openxmlformats.org/officeDocument/2006/relationships" id="264" r:id="R085dd8f72222423b"/>
    <p:sldId xmlns:r="http://schemas.openxmlformats.org/officeDocument/2006/relationships" id="265" r:id="R6b854cb77e374dcb"/>
    <p:sldId xmlns:r="http://schemas.openxmlformats.org/officeDocument/2006/relationships" id="266" r:id="R26969e34020f4f9f"/>
    <p:sldId xmlns:r="http://schemas.openxmlformats.org/officeDocument/2006/relationships" id="267" r:id="R537ed8af58e14cfe"/>
    <p:sldId xmlns:r="http://schemas.openxmlformats.org/officeDocument/2006/relationships" id="268" r:id="Rac7dfd3e22a44f97"/>
    <p:sldId xmlns:r="http://schemas.openxmlformats.org/officeDocument/2006/relationships" id="269" r:id="Rb5cc96463ec54b94"/>
    <p:sldId xmlns:r="http://schemas.openxmlformats.org/officeDocument/2006/relationships" id="270" r:id="R83689d888d20426b"/>
    <p:sldId xmlns:r="http://schemas.openxmlformats.org/officeDocument/2006/relationships" id="271" r:id="Re61edf4d75e845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edcc38e09746ae" /><Relationship Type="http://schemas.openxmlformats.org/officeDocument/2006/relationships/slideMaster" Target="/ppt/slideMasters/slideMaster1.xml" Id="Rb8a236563a0449fc" /><Relationship Type="http://schemas.openxmlformats.org/officeDocument/2006/relationships/notesMaster" Target="/ppt/notesMasters/notesMaster1.xml" Id="R18253497f92a4bc7" /><Relationship Type="http://schemas.openxmlformats.org/officeDocument/2006/relationships/presProps" Target="/ppt/presProps.xml" Id="Rf62024f5f31f4db1" /><Relationship Type="http://schemas.openxmlformats.org/officeDocument/2006/relationships/tableStyles" Target="/ppt/tableStyles.xml" Id="R32d2ef5a9782453f" /><Relationship Type="http://schemas.openxmlformats.org/officeDocument/2006/relationships/slide" Target="/ppt/slides/slide1.xml" Id="Re3a127f2c0fd4d07" /><Relationship Type="http://schemas.openxmlformats.org/officeDocument/2006/relationships/slide" Target="/ppt/slides/slide2.xml" Id="R23d7c18414cb4efd" /><Relationship Type="http://schemas.openxmlformats.org/officeDocument/2006/relationships/slide" Target="/ppt/slides/slide3.xml" Id="Ref5c00aa6a11461e" /><Relationship Type="http://schemas.openxmlformats.org/officeDocument/2006/relationships/slide" Target="/ppt/slides/slide4.xml" Id="R4909a72314d6423b" /><Relationship Type="http://schemas.openxmlformats.org/officeDocument/2006/relationships/slide" Target="/ppt/slides/slide5.xml" Id="R29e729b73d1b422e" /><Relationship Type="http://schemas.openxmlformats.org/officeDocument/2006/relationships/slide" Target="/ppt/slides/slide6.xml" Id="R96e886238d6b4dc1" /><Relationship Type="http://schemas.openxmlformats.org/officeDocument/2006/relationships/slide" Target="/ppt/slides/slide7.xml" Id="R6f5eb40464394c0b" /><Relationship Type="http://schemas.openxmlformats.org/officeDocument/2006/relationships/slide" Target="/ppt/slides/slide8.xml" Id="Re94c039b159745ba" /><Relationship Type="http://schemas.openxmlformats.org/officeDocument/2006/relationships/slide" Target="/ppt/slides/slide9.xml" Id="R085dd8f72222423b" /><Relationship Type="http://schemas.openxmlformats.org/officeDocument/2006/relationships/slide" Target="/ppt/slides/slide10.xml" Id="R6b854cb77e374dcb" /><Relationship Type="http://schemas.openxmlformats.org/officeDocument/2006/relationships/slide" Target="/ppt/slides/slide11.xml" Id="R26969e34020f4f9f" /><Relationship Type="http://schemas.openxmlformats.org/officeDocument/2006/relationships/slide" Target="/ppt/slides/slide12.xml" Id="R537ed8af58e14cfe" /><Relationship Type="http://schemas.openxmlformats.org/officeDocument/2006/relationships/slide" Target="/ppt/slides/slide13.xml" Id="Rac7dfd3e22a44f97" /><Relationship Type="http://schemas.openxmlformats.org/officeDocument/2006/relationships/slide" Target="/ppt/slides/slide14.xml" Id="Rb5cc96463ec54b94" /><Relationship Type="http://schemas.openxmlformats.org/officeDocument/2006/relationships/slide" Target="/ppt/slides/slide15.xml" Id="R83689d888d20426b" /><Relationship Type="http://schemas.openxmlformats.org/officeDocument/2006/relationships/slide" Target="/ppt/slides/slide16.xml" Id="Re61edf4d75e845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f27e574b4443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7c1f497563454a" /><Relationship Type="http://schemas.openxmlformats.org/officeDocument/2006/relationships/notesMaster" Target="/ppt/notesMasters/notesMaster1.xml" Id="R316c4c1c367e4e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095677452446e6" /><Relationship Type="http://schemas.openxmlformats.org/officeDocument/2006/relationships/notesMaster" Target="/ppt/notesMasters/notesMaster1.xml" Id="R1d4a457f9d6342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3988165a994378" /><Relationship Type="http://schemas.openxmlformats.org/officeDocument/2006/relationships/notesMaster" Target="/ppt/notesMasters/notesMaster1.xml" Id="Rd12409eac7fe48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5ae29bd2fb4ba7" /><Relationship Type="http://schemas.openxmlformats.org/officeDocument/2006/relationships/notesMaster" Target="/ppt/notesMasters/notesMaster1.xml" Id="R78d51abc506f47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17b46af34a4b1b" /><Relationship Type="http://schemas.openxmlformats.org/officeDocument/2006/relationships/notesMaster" Target="/ppt/notesMasters/notesMaster1.xml" Id="R5e0f80b910d741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a12631a52d4568" /><Relationship Type="http://schemas.openxmlformats.org/officeDocument/2006/relationships/notesMaster" Target="/ppt/notesMasters/notesMaster1.xml" Id="Rc03debee7f7448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1c714c04324c96" /><Relationship Type="http://schemas.openxmlformats.org/officeDocument/2006/relationships/notesMaster" Target="/ppt/notesMasters/notesMaster1.xml" Id="Rf7bdfa98e0d14e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7b901e3cb640e0" /><Relationship Type="http://schemas.openxmlformats.org/officeDocument/2006/relationships/notesMaster" Target="/ppt/notesMasters/notesMaster1.xml" Id="Rb9e3d2861ec447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6d63a8c01c48b2" /><Relationship Type="http://schemas.openxmlformats.org/officeDocument/2006/relationships/notesMaster" Target="/ppt/notesMasters/notesMaster1.xml" Id="R883d5e8c66e64a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93599baec846bc" /><Relationship Type="http://schemas.openxmlformats.org/officeDocument/2006/relationships/notesMaster" Target="/ppt/notesMasters/notesMaster1.xml" Id="R4679ed662a4649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bf7586c7c14aef" /><Relationship Type="http://schemas.openxmlformats.org/officeDocument/2006/relationships/notesMaster" Target="/ppt/notesMasters/notesMaster1.xml" Id="Rd9dc81190f7a4af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baf76a88e04682" /><Relationship Type="http://schemas.openxmlformats.org/officeDocument/2006/relationships/notesMaster" Target="/ppt/notesMasters/notesMaster1.xml" Id="Re4eca7f2f5944d2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b85b94b6e54d2d" /><Relationship Type="http://schemas.openxmlformats.org/officeDocument/2006/relationships/notesMaster" Target="/ppt/notesMasters/notesMaster1.xml" Id="Rd24321d93fe84e7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afab80d1363472f" /><Relationship Type="http://schemas.openxmlformats.org/officeDocument/2006/relationships/notesMaster" Target="/ppt/notesMasters/notesMaster1.xml" Id="R5f3eb3a237094b4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648b330d64a4096" /><Relationship Type="http://schemas.openxmlformats.org/officeDocument/2006/relationships/notesMaster" Target="/ppt/notesMasters/notesMaster1.xml" Id="R0738312070af42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cd2975ecfb47c6" /><Relationship Type="http://schemas.openxmlformats.org/officeDocument/2006/relationships/notesMaster" Target="/ppt/notesMasters/notesMaster1.xml" Id="R46b63697c8364c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f11f51be3e4f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73ebbbdaed45a1" /><Relationship Type="http://schemas.openxmlformats.org/officeDocument/2006/relationships/slideLayout" Target="/ppt/slideLayouts/slideLayout1.xml" Id="Rd161b803b96846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61b803b96846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39070413414cf2" /><Relationship Type="http://schemas.openxmlformats.org/officeDocument/2006/relationships/notesSlide" Target="/ppt/notesSlides/notesSlide1.xml" Id="Rdeede10bbcee4b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6a24efc3040f4" /><Relationship Type="http://schemas.openxmlformats.org/officeDocument/2006/relationships/notesSlide" Target="/ppt/notesSlides/notesSlide2.xml" Id="R6262f17308d140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6b25f9a684237" /><Relationship Type="http://schemas.openxmlformats.org/officeDocument/2006/relationships/notesSlide" Target="/ppt/notesSlides/notesSlide3.xml" Id="Rb6673882c65e42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69898c8884964" /><Relationship Type="http://schemas.openxmlformats.org/officeDocument/2006/relationships/notesSlide" Target="/ppt/notesSlides/notesSlide4.xml" Id="R54b73016490d45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26fb58cb74a3c" /><Relationship Type="http://schemas.openxmlformats.org/officeDocument/2006/relationships/notesSlide" Target="/ppt/notesSlides/notesSlide5.xml" Id="Rae3c14dcea0c4b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630978ac74e6f" /><Relationship Type="http://schemas.openxmlformats.org/officeDocument/2006/relationships/image" Target="/ppt/media/image.png" Id="Rb9a40f27a9ce4c9e" /><Relationship Type="http://schemas.openxmlformats.org/officeDocument/2006/relationships/notesSlide" Target="/ppt/notesSlides/notesSlide6.xml" Id="R2db2c92f86eb41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cc23c06d44854" /><Relationship Type="http://schemas.openxmlformats.org/officeDocument/2006/relationships/image" Target="/ppt/media/image2.png" Id="R05f88a08626343f6" /><Relationship Type="http://schemas.openxmlformats.org/officeDocument/2006/relationships/notesSlide" Target="/ppt/notesSlides/notesSlide7.xml" Id="Rbe2e824df2914c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f2a00f27e46f9" /><Relationship Type="http://schemas.openxmlformats.org/officeDocument/2006/relationships/notesSlide" Target="/ppt/notesSlides/notesSlide8.xml" Id="Rc3fdf37de7ba43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9e3c8266a47b2" /><Relationship Type="http://schemas.openxmlformats.org/officeDocument/2006/relationships/notesSlide" Target="/ppt/notesSlides/notesSlide9.xml" Id="R18d658acc80a45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0df06ec494a3e" /><Relationship Type="http://schemas.openxmlformats.org/officeDocument/2006/relationships/image" Target="/ppt/media/image3.png" Id="R1c43fdd140a144ce" /><Relationship Type="http://schemas.openxmlformats.org/officeDocument/2006/relationships/notesSlide" Target="/ppt/notesSlides/notesSlide10.xml" Id="Rb0c5eadf77494f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9a3ae63924b7b" /><Relationship Type="http://schemas.openxmlformats.org/officeDocument/2006/relationships/notesSlide" Target="/ppt/notesSlides/notesSlide11.xml" Id="R54b2532f994340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c146efb2640fb" /><Relationship Type="http://schemas.openxmlformats.org/officeDocument/2006/relationships/notesSlide" Target="/ppt/notesSlides/notesSlide12.xml" Id="R64797d25ca8e4d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0181243934a0b" /><Relationship Type="http://schemas.openxmlformats.org/officeDocument/2006/relationships/notesSlide" Target="/ppt/notesSlides/notesSlide13.xml" Id="R2c128c3b390d43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c461e08f14d1b" /><Relationship Type="http://schemas.openxmlformats.org/officeDocument/2006/relationships/image" Target="/ppt/media/image4.png" Id="Rae7c5856edde48d9" /><Relationship Type="http://schemas.openxmlformats.org/officeDocument/2006/relationships/notesSlide" Target="/ppt/notesSlides/notesSlide14.xml" Id="R11e6024bb04e47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4b7e1abf94ba3" /><Relationship Type="http://schemas.openxmlformats.org/officeDocument/2006/relationships/notesSlide" Target="/ppt/notesSlides/notesSlide15.xml" Id="Rd7d731fb28d741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527c486dc41a5" /><Relationship Type="http://schemas.openxmlformats.org/officeDocument/2006/relationships/notesSlide" Target="/ppt/notesSlides/notesSlide16.xml" Id="Rfed8614923524b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FA8D-A3E3-4BD2-818A-33B2DD8C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D77698-1F4D-419D-B1B7-FFB30BF1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257300"/>
            <a:ext cx="695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43B5D"/>
                </a:solidFill>
              </a:defRPr>
            </a:pPr>
            <a:r>
              <a:rPr sz="3750" b="1">
                <a:solidFill>
                  <a:srgbClr val="143B5D"/>
                </a:solidFill>
              </a:rPr>
              <a:t>QUANDO O CONSENSO</a:t>
            </a:r>
          </a:p>
          <a:p xmlns:a="http://schemas.openxmlformats.org/drawingml/2006/main">
            <a:pPr algn="l">
              <a:defRPr sz="3750" b="1">
                <a:solidFill>
                  <a:srgbClr val="143B5D"/>
                </a:solidFill>
              </a:defRPr>
            </a:pPr>
            <a:r>
              <a:rPr sz="3750" b="1">
                <a:solidFill>
                  <a:srgbClr val="143B5D"/>
                </a:solidFill>
              </a:rPr>
              <a:t>PODE DAR PODER AO HEGEMON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426D4-92C0-4F83-A4B2-BE220D83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676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6727E"/>
                </a:solidFill>
              </a:defRPr>
            </a:pPr>
            <a:r>
              <a:rPr sz="1875" b="0">
                <a:solidFill>
                  <a:srgbClr val="66727E"/>
                </a:solidFill>
              </a:rPr>
              <a:t>Agenda, indispensabilidade e renda informacional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88ACB-9F49-4AB8-AFF6-0A4880CB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2857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26506-0B4F-4875-8EE5-C1E8EB11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BC9A7-7C49-4AB4-90A4-7FB76EC0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552575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 pergunta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398B8-96D3-404E-B855-BB48617D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000250"/>
            <a:ext cx="24288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Como o consenso pode elevar o payoff de um hegemon em relação à maioria?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F5D01-4F3D-4CE7-BA8A-14ADE650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864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</a:defRPr>
            </a:pPr>
            <a:r>
              <a:rPr sz="1200" b="0">
                <a:solidFill>
                  <a:srgbClr val="66727E"/>
                </a:solidFill>
              </a:rPr>
              <a:t>Manoel Galdino  •  Seminário de Economia Política Internacional</a:t>
            </a:r>
          </a:p>
        </p:txBody>
      </p:sp>
    </p:spTree>
    <p:extLst>
      <p:ext uri="{BB962C8B-B14F-4D97-AF65-F5344CB8AC3E}">
        <p14:creationId xmlns:p14="http://schemas.microsoft.com/office/powerpoint/2010/main" val="6794064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0512B-43B3-47EA-8B8F-A06DC59C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O paradoxo da OMC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3BB70-3FFA-4487-88AA-3A2D30E5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F16F7-C9EE-4728-834E-CE73E2A1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B961F-E22B-4A6A-AE8E-BD08491F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0F446-0A96-44ED-91CC-C8F22076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62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52AC5-7DF4-4EEE-8BF5-07766EA1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Igualdade formal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F51FF-59ED-4397-BBC6-B0FD759E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24375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Primeiro, consenso.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Se não houver consenso, votação.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Cada membro tem um voto.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Mas os Estados Unidos continuam capazes de moldar resultados.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E89BB-48EF-4C92-ADE2-1501946C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5381625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68053-39DE-412E-A250-E2C6329B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762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22E708-D54F-435B-8F93-02B8ACC7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552575"/>
            <a:ext cx="4981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 pergunta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33BBB-919D-4704-B878-A3EEFBA2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000250"/>
            <a:ext cx="49530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Quando o tipo de baixa exigência pode obter mais sob consenso do que sob maioria?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343E5-686A-4D08-8079-AE6E383F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Art. IX. Com sim na indiferença, consenso e unanimidade são equivalentes no domínio modelado; aplicação teórica.</a:t>
            </a:r>
          </a:p>
        </p:txBody>
      </p:sp>
    </p:spTree>
    <p:extLst>
      <p:ext uri="{BB962C8B-B14F-4D97-AF65-F5344CB8AC3E}">
        <p14:creationId xmlns:p14="http://schemas.microsoft.com/office/powerpoint/2010/main" val="5510409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46792-84A7-4CA7-A174-C39F6FAB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 resposta convencional: pesos invisíveis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716FD3-E884-4893-93CC-69D7FB8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2154F-887A-4C30-A628-B7195DB4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F95B2-DBD3-44D7-B498-3D459034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3238500" cy="33813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8B240-8E45-49CE-859A-063E8FBB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762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67AAA-6C0B-472F-AE66-70DE457F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Agenda e informação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BC34C-5FA0-404C-BFCC-230A496A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71675"/>
            <a:ext cx="280987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Controle do texto, do timing e das alternativas; aprendizado sobre as restrições dos fracos.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E1F18E-E4D4-4E18-B000-36823D73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3238500" cy="33813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DE200-0181-4631-BBF0-B7A05984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762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07BB5-F86E-4B52-9B6F-DBE058B4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52400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Poder material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77DC3-C8A0-4B78-A438-ACBCBA63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71675"/>
            <a:ext cx="280987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Ameaça de saída, coerção e fechamento de opções.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4BB22-E5EB-419F-A001-384F5481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52550"/>
            <a:ext cx="3238500" cy="3381375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CAD373-754A-4E6B-B93D-9D23F153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52550"/>
            <a:ext cx="762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2457C1-F15B-45EC-96FB-F5367429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52400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Consenso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4E4F05-AE70-4886-AEEA-AFE969C3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71675"/>
            <a:ext cx="280987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Legitima formalmente um acordo já moldado na negociação informal.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89EE1-CC1F-4F7E-BDE3-FA53492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985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43B5D"/>
                </a:solidFill>
              </a:defRPr>
            </a:pPr>
            <a:r>
              <a:rPr sz="2025" b="1">
                <a:solidFill>
                  <a:srgbClr val="143B5D"/>
                </a:solidFill>
              </a:rPr>
              <a:t>Nossa pergunta adicional: o que a regra faz com a informação privada do hegemon?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5FBE60-0896-4F07-B8A4-E260B6FC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Steinberg (2002), “In the Shadow of Law or Power?”.</a:t>
            </a:r>
          </a:p>
        </p:txBody>
      </p:sp>
    </p:spTree>
    <p:extLst>
      <p:ext uri="{BB962C8B-B14F-4D97-AF65-F5344CB8AC3E}">
        <p14:creationId xmlns:p14="http://schemas.microsoft.com/office/powerpoint/2010/main" val="345274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0E8D5-0866-4C71-9419-1531A2CA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 margem que Steinberg deixa em aberto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22A15-A52B-4FC2-9832-1FD860FD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AFF58-362A-4DE9-87FB-DB9B27CF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C0A57-AB72-4C1A-947D-3066F054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CFC506-EC70-46B5-AF09-EDD034F0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76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0F38B-2540-4E4A-95A2-588605A7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Na explicação convencional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E9B6A1-2B1C-4CC1-BD0A-DA571EC3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52625"/>
            <a:ext cx="4667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A potência molda texto, timing e alternativas.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Sua força material disciplina os fracos.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O consenso ratifica um pacote trabalhado informalmente.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8CB8CB-BE79-4204-8E65-10962568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33500"/>
            <a:ext cx="509587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FA6C5-2405-4315-A7F7-73841332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33500"/>
            <a:ext cx="76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D34F9-67F4-48FC-8D18-4183D875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04950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No nosso contrafactual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AC81B-C1C4-408D-B005-AA499BA5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952625"/>
            <a:ext cx="4667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H conhece sua própria exigência para aceitar.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Os proponentes fracos não a observam.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Retiramos de H a iniciativa formal: πH = 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0F875-6635-4551-98B6-BB9836B7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143500"/>
            <a:ext cx="9810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43B5D"/>
                </a:solidFill>
              </a:defRPr>
            </a:pPr>
            <a:r>
              <a:rPr sz="2025" b="1">
                <a:solidFill>
                  <a:srgbClr val="143B5D"/>
                </a:solidFill>
              </a:rPr>
              <a:t>A regra pode dar poder à informação do hegemon antes de lhe devolvermos a agenda?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CD1A5E-6642-4209-8394-6191F6F2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πH = 0 remove o direito formal de propor; não elimina toda a influência informal sobre agenda descrita por Steinberg.</a:t>
            </a:r>
          </a:p>
        </p:txBody>
      </p:sp>
    </p:spTree>
    <p:extLst>
      <p:ext uri="{BB962C8B-B14F-4D97-AF65-F5344CB8AC3E}">
        <p14:creationId xmlns:p14="http://schemas.microsoft.com/office/powerpoint/2010/main" val="1420721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1491C-00AB-4B30-8D76-6BDC2B2A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Arquitetura mínima do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B1002-EB27-48C1-8810-18728F40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45EE2-5801-40EA-964D-EE9D7234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506E7-FD82-42FA-9E45-144F6A68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39745-4E7F-487E-8BE9-25C46952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439EF-7121-444D-A3B4-AF235DF1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455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Atores e informação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86BF2-3437-4793-B46B-DA3544C7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24375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Um hegemon H e m ≥ 3 Estados fracos.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H conhece sua exigência mínima: o₁ &gt; o₀.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Os fracos conhecem apenas ν = Pr(θ = 1).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83A67-45E4-4E59-9303-24098BB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53816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698F8-29D0-4939-8718-FF551D64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381125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D9ED39-3EE2-4A57-9403-54368D21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552575"/>
            <a:ext cx="4981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Instituições e tempo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66CAC-3369-4809-9FFF-95AD2512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000250"/>
            <a:ext cx="49530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Dois períodos; desconto β.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O pacote y concede excedente a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Maioria pode excluir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Unanimidade exige seu sim.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49E15E-AEE2-4471-AC26-7AB428EE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3B5D"/>
                </a:solidFill>
              </a:defRPr>
            </a:pPr>
            <a:r>
              <a:rPr sz="1950" b="1">
                <a:solidFill>
                  <a:srgbClr val="143B5D"/>
                </a:solidFill>
              </a:rPr>
              <a:t>A regra muda se uma coalizão pode contornar o voto informado.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69D49-B84F-4580-BA59-169A51EA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R1: fraco propõe → votos → acordo/continuação β → R2 terminal: fraco propõe → acordo/desacordo.</a:t>
            </a:r>
          </a:p>
        </p:txBody>
      </p:sp>
    </p:spTree>
    <p:extLst>
      <p:ext uri="{BB962C8B-B14F-4D97-AF65-F5344CB8AC3E}">
        <p14:creationId xmlns:p14="http://schemas.microsoft.com/office/powerpoint/2010/main" val="11981444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40f27a9ce4c9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776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f88a08626343f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324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C6AF2-B30A-478A-A398-CFEC04D8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Com informação privada, as regras ativam jogos distintos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3C93B-4FBA-456D-A446-00378CE9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98ACD-9A77-48B1-9FB1-D7787F1D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EC643-33F2-4588-95F9-3DAE9824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500062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0F738-C64B-49AE-85F7-9E90D890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FD62E-E1E2-482B-A637-0A2D2FC2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4600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Maioria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1A815-3748-49D9-823A-78A14E83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720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Pode contornar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Screening, pooling e exclusão.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A exigência de H pode ser evitada por uma coalizão alternativa.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B72817-3AC6-4D52-8459-20A40B88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19112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8FF6D-63F1-461D-B01C-B1580941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881F4-2CFA-414A-B39D-016BC46E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552575"/>
            <a:ext cx="4791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Unanimidade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04F02-08E8-4067-928A-D3AB9505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000250"/>
            <a:ext cx="4762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Todo acordo compra o sim de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Crença baixa: oferta ao tipo baixo.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Crença intermediária: não há PBE puro.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Crença alta: pooling no limiar alto.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A546A-8F52-40E5-ACCB-289BC11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60070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3B5D"/>
                </a:solidFill>
              </a:defRPr>
            </a:pPr>
            <a:r>
              <a:rPr sz="1875" b="1">
                <a:solidFill>
                  <a:srgbClr val="143B5D"/>
                </a:solidFill>
              </a:rPr>
              <a:t>No pooling, a baixa exigência é paga como se pudesse ser alta.</a:t>
            </a:r>
          </a:p>
        </p:txBody>
      </p:sp>
    </p:spTree>
    <p:extLst>
      <p:ext uri="{BB962C8B-B14F-4D97-AF65-F5344CB8AC3E}">
        <p14:creationId xmlns:p14="http://schemas.microsoft.com/office/powerpoint/2010/main" val="17619253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B06499-7FA2-4C70-93EB-2EF1A3AF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Como identificar a fonte do ganho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65453-7922-49EA-8215-E0CE3D50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8DFA3-734E-4D75-8B60-8EDD9DC0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87CEE-0DB4-4647-980C-A74C09AB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10477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35E04-6C69-4863-A6A6-5B707EAD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BA78FD-D573-4D01-B6CC-06012F04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52575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Fixe um par de equilíbrios comparáveis (sM, sU)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CE172-2086-46C1-999D-8B11B6A7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00250"/>
            <a:ext cx="10048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RIgθ(sg) = Vg(priv, θ; sg) − hg(oθ)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E0F21-7BF4-42DB-856A-F21560F5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104775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B1B-BDB3-4CD8-A212-7864FA87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4BD399-923F-4618-9278-9AA83D6E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Mudança institucional do prêmio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D81919-EDE3-4E7B-8CA7-A11918B6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0425"/>
            <a:ext cx="10048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ΔRIθ(sU,sM) = RIUθ(sU) − RIMθ(sM)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6F18F-375E-4913-810F-512150D7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81475"/>
            <a:ext cx="1047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35C18-9B6A-4E0C-ABCE-A7964A82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81475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7B8D7-0007-440B-89B5-F299C7A8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Teste da reversão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7524F-27CE-4F37-A2F9-0752C22E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1004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δθ(sU,sM) = −G(oθ) + ΔRIθ(sU,sM)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A804E-A17D-47A0-BC73-CD3511AF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43575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727E"/>
                </a:solidFill>
              </a:defRPr>
            </a:pPr>
            <a:r>
              <a:rPr sz="1500" b="0">
                <a:solidFill>
                  <a:srgbClr val="66727E"/>
                </a:solidFill>
              </a:rPr>
              <a:t>Se G(o₀) &gt; 0 e δ₀ &gt; 0, então ΔRI₀ &gt; G(o₀). Resultado existencial equilíbrio a equilíbrio.</a:t>
            </a:r>
          </a:p>
        </p:txBody>
      </p:sp>
    </p:spTree>
    <p:extLst>
      <p:ext uri="{BB962C8B-B14F-4D97-AF65-F5344CB8AC3E}">
        <p14:creationId xmlns:p14="http://schemas.microsoft.com/office/powerpoint/2010/main" val="11261576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3fdd140a144c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654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89BF11-1A56-40D1-8A6A-9EE98295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GEB: a mesma base institucional, outra arquitetura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6E944-CF57-49A8-A118-A877B7A7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01534-7757-49E7-A18A-F1711CA0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D8EFC3-9907-45E8-9B91-F9D044CA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509587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E2D1D-B558-4CF2-B635-2B487DF8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762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00647-6252-415F-B881-8FEE5563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Piazolo–Vanberg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B74B2-6B54-405D-8F1C-DB209485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05000"/>
            <a:ext cx="4667250" cy="331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Dois respondentes simétricos têm custos privados.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Maioria disciplina por exclusão: recorre ao outro, também informado.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Unanimidade aumenta o valor de parecer exigente.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Rejeição altera preços futuros; também há pooling imediato.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5E540-4769-418F-AAE6-912B308F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285875"/>
            <a:ext cx="509587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60661-989F-46F4-8871-15DC007B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285875"/>
            <a:ext cx="762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CDA026-793B-4739-AE62-A35083AA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457325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Este modelo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45BCF-204D-4607-B7BA-0C0FC358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905000"/>
            <a:ext cx="4667250" cy="331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Toda a informação privada está num único H.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Maioria o substitui por coalizão sem informação sobre θ.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Unanimidade torna a única exigência privada incontornável.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Mapeamos RIgθ e ΔRIθ por tipo.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2605E-C172-418E-8A9F-D3E8A076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67375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Não contrapomos sinalização e indispensabilidade. Mudamos a arquitetura e o estimando.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DD7BF-CAF0-49BB-A523-C557C792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No GEB, uma oferta alta também deixa renda ao tipo baixo: a espécie da renda não é nova.</a:t>
            </a:r>
          </a:p>
        </p:txBody>
      </p:sp>
    </p:spTree>
    <p:extLst>
      <p:ext uri="{BB962C8B-B14F-4D97-AF65-F5344CB8AC3E}">
        <p14:creationId xmlns:p14="http://schemas.microsoft.com/office/powerpoint/2010/main" val="2974797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EA04EB-F574-41DE-BEC4-413D1B3B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Public Choice: o mesmo seguro, outro portador do poder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CD3C2-48F9-4A3E-8072-BF620328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CFC35-C306-46E4-B348-30E688F3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5313A-DD30-4E02-B1F3-EB1DF89D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509587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53629-6B30-408C-ADC5-FBE2D745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762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BB38B-9BCE-493C-9ED2-728828C1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Glynia–Thum–Xefteris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E97B3A-B616-4D09-BBFB-F9FBC5FE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05000"/>
            <a:ext cx="4667250" cy="331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Agenda setter fixo e desinformado.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Dois respondentes simétricos conhecem seus custos.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Uma oferta: seguro caro versus aposta barata.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Foco em aprovação, transferências e payoff do proponente.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16621-BF43-4064-A32D-BA26D214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285875"/>
            <a:ext cx="5095875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8B118-7326-4DB3-85E5-FF6F3F1A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285875"/>
            <a:ext cx="762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92980-5435-40FD-BBFC-62D8D153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457325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Nossa mudança de estimando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367073-8194-4D34-8883-9CC424DB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905000"/>
            <a:ext cx="4667250" cy="331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Payoff interino do único ator assimétrico.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Benchmark público do mesmo tipo e regra.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Maioria pode eliminar toda a informação de H da coalizão.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• Na extensão, o mesmo H informado recebe agenda.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C9E78-B63D-4894-AADE-D7B03974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66737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91528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Não reivindicamos uma nova renda de pooling: seguimos quem a recebe e como ela muda com agenda.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3C81B-4059-4B6D-8478-BABE58F9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O Public Choice também contém benchmark público e renda do tipo barato numa oferta aceita por ambos.</a:t>
            </a:r>
          </a:p>
        </p:txBody>
      </p:sp>
    </p:spTree>
    <p:extLst>
      <p:ext uri="{BB962C8B-B14F-4D97-AF65-F5344CB8AC3E}">
        <p14:creationId xmlns:p14="http://schemas.microsoft.com/office/powerpoint/2010/main" val="17983027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25666C-9345-42F5-B79F-9AFC80AB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Segundo resultado: o ator informado atravessa o balcão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68F17-22A4-4660-8D5E-E6D737CB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8BFED-BDFD-4338-B017-64BFF40D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31F05-C86C-4EAE-8811-923D272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4191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31206-AADC-441A-B2A5-ADD615FE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76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DAAFD-8892-4558-8CE9-D968A8BD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57325"/>
            <a:ext cx="3790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Sem agenda de H (N)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DC4F2-200E-4DFD-9792-34C9A981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3762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Fraco desinformado propõe.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 informado responde.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7CB72-5766-4A30-99EC-E4954D4A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857375"/>
            <a:ext cx="123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E76F51"/>
                </a:solidFill>
              </a:defRPr>
            </a:pPr>
            <a:r>
              <a:rPr sz="4050" b="1">
                <a:solidFill>
                  <a:srgbClr val="E76F51"/>
                </a:solidFill>
              </a:rPr>
              <a:t>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4DD6E-C476-4378-8594-E1343520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85875"/>
            <a:ext cx="419100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5BC2A-1EBD-4B16-814D-97C0886F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85875"/>
            <a:ext cx="76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D6BC47-6E63-4BCC-8042-88A6EAB1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457325"/>
            <a:ext cx="3790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Com agenda de H (A)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03A34-332D-43A7-A2B9-90869A95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05000"/>
            <a:ext cx="37623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 informado propõe.</a:t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Estados fracos respondem.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2B51B-484F-4F09-B91F-0A76B0A4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0515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27E"/>
                </a:solidFill>
              </a:defRPr>
            </a:pPr>
            <a:r>
              <a:rPr sz="1425" b="1">
                <a:solidFill>
                  <a:srgbClr val="66727E"/>
                </a:solidFill>
              </a:rPr>
              <a:t>Em cada lado: tipo conhecido e tipo privado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73D6E4-BE7E-4273-B4FF-175CBE7A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3333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DE1A1-F6B6-4AD5-8B77-F4FA38DD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B13806-E0D5-4500-A02C-0DD25B2D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48075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Efeito direto 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80E0D-EA25-4C5C-84AB-AA1FE25E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29051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Ganho de propor quando o tipo é conhecido.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5C029-3AC4-4CF1-8F43-97115836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3333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31EF94-CFA6-46AD-8A48-77B920B0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76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333628-B05C-4548-88BE-1F986F89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48075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Interação 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05B251-929C-4EEF-B878-EAD17AAA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95750"/>
            <a:ext cx="29051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Mudança na renda informacional causada pela agenda.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084DD1-0116-4242-BA54-011A5CE8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76625"/>
            <a:ext cx="3333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B49B2D-98F6-45CF-8077-EC0022A9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76625"/>
            <a:ext cx="762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D3521E-03FE-47B5-9520-EA458CD7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48075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Efeito total 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230B9C-6A92-4A11-AD2D-577F065C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95750"/>
            <a:ext cx="29051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Tgθ = Dgθ + Igθ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4799DB-B19A-4140-A569-58D54E6F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67375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3B5D"/>
                </a:solidFill>
              </a:defRPr>
            </a:pPr>
            <a:r>
              <a:rPr sz="1875" b="1">
                <a:solidFill>
                  <a:srgbClr val="143B5D"/>
                </a:solidFill>
              </a:rPr>
              <a:t>A agenda muda o papel do informado e a composição da renda que ele extrai.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E2234D-9F66-40EF-9052-202D9C43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E"/>
                </a:solidFill>
              </a:defRPr>
            </a:pPr>
            <a:r>
              <a:rPr sz="825" b="0">
                <a:solidFill>
                  <a:srgbClr val="66727E"/>
                </a:solidFill>
              </a:rPr>
              <a:t>A proposta de H é uma etapa anterior e obrigatória; T = D + I é uma identidade fatorial.</a:t>
            </a:r>
          </a:p>
        </p:txBody>
      </p:sp>
    </p:spTree>
    <p:extLst>
      <p:ext uri="{BB962C8B-B14F-4D97-AF65-F5344CB8AC3E}">
        <p14:creationId xmlns:p14="http://schemas.microsoft.com/office/powerpoint/2010/main" val="5415594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c5856edde48d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448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2EA3D-168E-4447-87E4-023D78A4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Quando os EUA de baixa exigência podem receber mais sob consenso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680AD9-646F-475B-9B3E-258BA950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7E6E6-19F2-43E7-AB61-4777B246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4523E6-2B16-4145-B5C2-E1F2695E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4775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31908-1EC3-4F59-84DC-746C554C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762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AB65E-0E49-4899-A3A8-F385C766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57325"/>
            <a:ext cx="1007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As cinco condições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BB0542-5067-400C-B496-6B44406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048875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1. Exigência mínima para aceitar parcialmente privada.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2. Maioria sem os EUA viável e capaz de contornar sua informação.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3. Consenso torna a objeção norte-americana incontornável no domínio modelado.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4. Crença alta sustenta pooling.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5. ΔRI₀(sU,sM) &gt; G(o₀).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9A2C2-93F6-440F-A438-80995FB3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952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3B5D"/>
                </a:solidFill>
              </a:defRPr>
            </a:pPr>
            <a:r>
              <a:rPr sz="1800" b="1">
                <a:solidFill>
                  <a:srgbClr val="143B5D"/>
                </a:solidFill>
              </a:rPr>
              <a:t>Sem agenda: preferência interina do tipo baixo. Com agenda: o ranking entre regras depende de D e I.</a:t>
            </a:r>
          </a:p>
        </p:txBody>
      </p:sp>
    </p:spTree>
    <p:extLst>
      <p:ext uri="{BB962C8B-B14F-4D97-AF65-F5344CB8AC3E}">
        <p14:creationId xmlns:p14="http://schemas.microsoft.com/office/powerpoint/2010/main" val="18667256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A24D5-752D-4B22-83B2-6F19409C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3B5D"/>
                </a:solidFill>
              </a:defRPr>
            </a:pPr>
            <a:r>
              <a:rPr sz="2400" b="1">
                <a:solidFill>
                  <a:srgbClr val="143B5D"/>
                </a:solidFill>
              </a:rPr>
              <a:t>Três poderes, uma conclusão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910EF-6E4C-419A-9B14-29DAEAD4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9A42B5-437E-4710-A899-2742FC2A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428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727E"/>
                </a:solidFill>
              </a:defRPr>
            </a:pPr>
            <a:r>
              <a:rPr sz="1125" b="0">
                <a:solidFill>
                  <a:srgbClr val="66727E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2E3AB-8C51-4D99-9381-5BA394BA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3286125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ABD8A3-3BEE-459F-9862-554A868C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762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23C99-4796-419B-96B9-6057452C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6478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Exigência externa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4D416-FE91-4AE2-8AF5-FDAECC02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0955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Força fora da instituição.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178CCB-4F8B-4DD3-83BD-59D8ABC0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476375"/>
            <a:ext cx="3286125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CC6E52-BF0F-4061-B3B5-0D80C29A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476375"/>
            <a:ext cx="762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D2562-521F-4247-AAFA-21A81CE8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478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Pivotalidade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BA410-61AF-49B6-A348-106C7F8F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0955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Ausência de substituto para o voto.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83E6B7-4E38-4F63-902D-9E8CB12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76375"/>
            <a:ext cx="3286125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4A165-66E5-4F6C-8085-48E98251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76375"/>
            <a:ext cx="762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88438D-AFDE-496E-A465-CEC5434C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478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3B5D"/>
                </a:solidFill>
              </a:defRPr>
            </a:pPr>
            <a:r>
              <a:rPr sz="1725" b="1">
                <a:solidFill>
                  <a:srgbClr val="143B5D"/>
                </a:solidFill>
              </a:rPr>
              <a:t>Agenda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DB3073-93C1-44CB-A81A-235ACDA8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Capacidade de escolher a proposta.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B272CA-C86D-4C8C-BB3A-17B614A1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9100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43B5D"/>
                </a:solidFill>
              </a:defRPr>
            </a:pPr>
            <a:r>
              <a:rPr sz="2175" b="1">
                <a:solidFill>
                  <a:srgbClr val="143B5D"/>
                </a:solidFill>
              </a:rPr>
              <a:t>CONSENSO TRANSFORMA INFORMAÇÃO EM PODER QUANDO O VOTO INFORMADO É INCONTORNÁVEL.</a:t>
            </a:r>
          </a:p>
          <a:p xmlns:a="http://schemas.openxmlformats.org/drawingml/2006/main">
            <a:pPr algn="ctr">
              <a:defRPr sz="2175" b="1">
                <a:solidFill>
                  <a:srgbClr val="143B5D"/>
                </a:solidFill>
              </a:defRPr>
            </a:pPr>
            <a:r>
              <a:rPr sz="2175" b="1">
                <a:solidFill>
                  <a:srgbClr val="143B5D"/>
                </a:solidFill>
              </a:rPr>
              <a:t>AGENDA ELEVA A EXTRAÇÃO DIRETA, MAS PODE COMPRIMIR A PARCELA INFORMACIONAL.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5DBE1-7CAC-4CF0-B221-9DE45470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27E"/>
                </a:solidFill>
              </a:defRPr>
            </a:pPr>
            <a:r>
              <a:rPr sz="1200" b="0">
                <a:solidFill>
                  <a:srgbClr val="66727E"/>
                </a:solidFill>
              </a:rPr>
              <a:t>Comparação institucional condicional; sem estágio endógeno de escolha da regra e sem teste de um episódio específico da OMC.</a:t>
            </a:r>
          </a:p>
        </p:txBody>
      </p:sp>
    </p:spTree>
    <p:extLst>
      <p:ext uri="{BB962C8B-B14F-4D97-AF65-F5344CB8AC3E}">
        <p14:creationId xmlns:p14="http://schemas.microsoft.com/office/powerpoint/2010/main" val="12712553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2026-08-31T18:27:17.7830000Z</dcterms:created>
  <dcterms:modified xsi:type="dcterms:W3CDTF">2026-08-31T18:27:17.7830000Z</dcterms:modified>
</coreProperties>
</file>